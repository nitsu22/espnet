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User-requested abstract CTF estimator diagram. Time Module then Frequency Module is repeated N times on features [T,F,D]. Speaker-specific weighted pooling reduces T and produces two [F,D] representations. Each representation is processed separately by the post-pooling frequency module and CTF output mapping. Existing implementation applies the same post-pooling module weights independently to each speaker; the two drawn boxes show separate processing, not independently parameterized weights. Batch dimension, STFT/Conv2D encoder, slot embeddings, detailed CTF head and number of post-pooling layers are omitted for simplicity. Actual complex output per speaker is [F,L], with L CTF taps. No fixed N is asserted.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502920"/>
            <a:ext cx="1133856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3600" b="0">
                <a:solidFill>
                  <a:srgbClr val="000000"/>
                </a:solidFill>
                <a:latin typeface="Arial"/>
              </a:rPr>
              <a:t>CTF Estimation Model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76656" y="1746504"/>
            <a:ext cx="3090672" cy="3246120"/>
          </a:xfrm>
          <a:prstGeom prst="roundRect">
            <a:avLst>
              <a:gd name="adj" fmla="val 7000"/>
            </a:avLst>
          </a:prstGeom>
          <a:noFill/>
          <a:ln w="16510">
            <a:solidFill>
              <a:srgbClr val="A6A6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360" y="1883664"/>
            <a:ext cx="731520" cy="4297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2300" b="1">
                <a:solidFill>
                  <a:srgbClr val="000000"/>
                </a:solidFill>
                <a:latin typeface="Arial"/>
              </a:rPr>
              <a:t>× 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5" y="2423160"/>
            <a:ext cx="2350008" cy="777240"/>
          </a:xfrm>
          <a:prstGeom prst="roundRect">
            <a:avLst>
              <a:gd name="adj" fmla="val 10000"/>
            </a:avLst>
          </a:prstGeom>
          <a:solidFill>
            <a:srgbClr val="CFE2F3"/>
          </a:solidFill>
          <a:ln w="22860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/>
          <a:lstStyle/>
          <a:p>
            <a:pPr algn="ctr">
              <a:spcAft>
                <a:spcPts val="100"/>
              </a:spcAft>
            </a:pPr>
            <a:r>
              <a:rPr sz="2300" b="1">
                <a:solidFill>
                  <a:srgbClr val="000000"/>
                </a:solidFill>
                <a:latin typeface="Arial"/>
              </a:rPr>
              <a:t>Time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2415" y="3639312"/>
            <a:ext cx="2350008" cy="777240"/>
          </a:xfrm>
          <a:prstGeom prst="roundRect">
            <a:avLst>
              <a:gd name="adj" fmla="val 10000"/>
            </a:avLst>
          </a:prstGeom>
          <a:solidFill>
            <a:srgbClr val="CFE2F3"/>
          </a:solidFill>
          <a:ln w="22860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/>
          <a:lstStyle/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Frequency</a:t>
            </a:r>
          </a:p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Module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17420" y="3200400"/>
            <a:ext cx="0" cy="438912"/>
          </a:xfrm>
          <a:prstGeom prst="line">
            <a:avLst/>
          </a:prstGeom>
          <a:ln w="22860">
            <a:solidFill>
              <a:srgbClr val="44546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392424" y="4027932"/>
            <a:ext cx="1197864" cy="0"/>
          </a:xfrm>
          <a:prstGeom prst="line">
            <a:avLst/>
          </a:prstGeom>
          <a:ln w="22860">
            <a:solidFill>
              <a:srgbClr val="44546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56432" y="3136392"/>
            <a:ext cx="1143000" cy="34747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[T, F, D]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288" y="3575304"/>
            <a:ext cx="1664208" cy="905256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22860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/>
          <a:lstStyle/>
          <a:p>
            <a:pPr algn="ctr">
              <a:spcAft>
                <a:spcPts val="100"/>
              </a:spcAft>
            </a:pPr>
            <a:r>
              <a:rPr sz="2300" b="1">
                <a:solidFill>
                  <a:srgbClr val="000000"/>
                </a:solidFill>
                <a:latin typeface="Arial"/>
              </a:rPr>
              <a:t>Pooling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54496" y="4027932"/>
            <a:ext cx="466344" cy="0"/>
          </a:xfrm>
          <a:prstGeom prst="line">
            <a:avLst/>
          </a:prstGeom>
          <a:ln w="2286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720840" y="2743200"/>
            <a:ext cx="0" cy="2560320"/>
          </a:xfrm>
          <a:prstGeom prst="line">
            <a:avLst/>
          </a:prstGeom>
          <a:ln w="2286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20840" y="2743200"/>
            <a:ext cx="896112" cy="0"/>
          </a:xfrm>
          <a:prstGeom prst="line">
            <a:avLst/>
          </a:prstGeom>
          <a:ln w="22860">
            <a:solidFill>
              <a:srgbClr val="44546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74536" y="2240280"/>
            <a:ext cx="105156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[F, D]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6952" y="1801368"/>
            <a:ext cx="2048256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0">
                <a:solidFill>
                  <a:srgbClr val="777777"/>
                </a:solidFill>
                <a:latin typeface="Arial"/>
              </a:rPr>
              <a:t>Speaker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16952" y="2286000"/>
            <a:ext cx="2048256" cy="914400"/>
          </a:xfrm>
          <a:prstGeom prst="roundRect">
            <a:avLst>
              <a:gd name="adj" fmla="val 10000"/>
            </a:avLst>
          </a:prstGeom>
          <a:solidFill>
            <a:srgbClr val="CFE2F3"/>
          </a:solidFill>
          <a:ln w="22860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/>
          <a:lstStyle/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Frequency</a:t>
            </a:r>
          </a:p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Module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65208" y="2743200"/>
            <a:ext cx="484632" cy="0"/>
          </a:xfrm>
          <a:prstGeom prst="line">
            <a:avLst/>
          </a:prstGeom>
          <a:ln w="22860">
            <a:solidFill>
              <a:srgbClr val="44546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314432" y="2496312"/>
            <a:ext cx="1444752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CTF 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20840" y="5303520"/>
            <a:ext cx="896112" cy="0"/>
          </a:xfrm>
          <a:prstGeom prst="line">
            <a:avLst/>
          </a:prstGeom>
          <a:ln w="22860">
            <a:solidFill>
              <a:srgbClr val="44546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74536" y="4800600"/>
            <a:ext cx="105156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[F, D]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2" y="4361688"/>
            <a:ext cx="2048256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0">
                <a:solidFill>
                  <a:srgbClr val="777777"/>
                </a:solidFill>
                <a:latin typeface="Arial"/>
              </a:rPr>
              <a:t>Speaker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6952" y="4846320"/>
            <a:ext cx="2048256" cy="914400"/>
          </a:xfrm>
          <a:prstGeom prst="roundRect">
            <a:avLst>
              <a:gd name="adj" fmla="val 10000"/>
            </a:avLst>
          </a:prstGeom>
          <a:solidFill>
            <a:srgbClr val="CFE2F3"/>
          </a:solidFill>
          <a:ln w="22860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27432" rIns="27432"/>
          <a:lstStyle/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Frequency</a:t>
            </a:r>
          </a:p>
          <a:p>
            <a:pPr algn="ctr">
              <a:spcAft>
                <a:spcPts val="1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Module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665208" y="5303520"/>
            <a:ext cx="484632" cy="0"/>
          </a:xfrm>
          <a:prstGeom prst="line">
            <a:avLst/>
          </a:prstGeom>
          <a:ln w="22860">
            <a:solidFill>
              <a:srgbClr val="44546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314432" y="5056631"/>
            <a:ext cx="1444752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>
                <a:solidFill>
                  <a:srgbClr val="000000"/>
                </a:solidFill>
                <a:latin typeface="Arial"/>
              </a:rPr>
              <a:t>CTF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419088"/>
            <a:ext cx="502920" cy="2286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r">
              <a:spcAft>
                <a:spcPts val="100"/>
              </a:spcAft>
            </a:pPr>
            <a:r>
              <a:rPr sz="1200" b="0">
                <a:solidFill>
                  <a:srgbClr val="77777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CTF Estimation Model</dc:title>
  <dc:subject/>
  <dc:creator>Nitsu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
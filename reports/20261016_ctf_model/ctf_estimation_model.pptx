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User-requested abstract CTF estimator diagram. Time Module then Frequency Module is repeated N times on features [T,F,D]. Speaker-specific weighted pooling reduces T and produces two [F,D] representations. Each representation is processed separately by the post-pooling frequency module and CTF output mapping. Existing implementation applies the same post-pooling module weights independently to each speaker; the two drawn boxes show separate processing, not independently parameterized weights. Batch dimension, STFT/Conv2D encoder, slot embeddings, detailed CTF head and number of post-pooling layers are omitted for simplicity. Actual complex output per speaker is [F,L], with L CTF taps. No fixed N is asserted.</a:t>
            </a:r>
          </a:p>
          <a:p>
            <a:r>
              <a:t>Horizontal revision: left-to-right Mixture -&gt; N repeated Time/Frequency stages -&gt; Pooling -&gt; speaker branches -&gt; Frequency Module -&gt; CTF. Mixture label denotes waveform input; STFT and Conv2D frontend remain abstracted. Visual inspiration: the block grouping in TF-Locoformer Fig. 1, https://www.merl.com/publications/docs/TR2024-126.pdf. All architecture shapes are original editable drawings, not a reproduced paper figure.</a:t>
            </a:r>
          </a:p>
          <a:p>
            <a:r>
              <a:t>Horizontal revision: left-to-right Mixture -&gt; N repeated Time/Frequency stages -&gt; Pooling -&gt; speaker branches -&gt; Frequency Module -&gt; CTF. Mixture label denotes waveform input; STFT and Conv2D frontend remain abstracted. Visual inspiration: the block grouping in TF-Locoformer Fig. 1, https://www.merl.com/publications/docs/TR2024-126.pdf. All architecture shapes are original editable drawings, not a reproduced paper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502920"/>
            <a:ext cx="11338560" cy="658368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3600" b="0">
                <a:solidFill>
                  <a:srgbClr val="000000"/>
                </a:solidFill>
                <a:latin typeface="Arial"/>
              </a:rPr>
              <a:t>CTF Estimation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64208" y="2331720"/>
            <a:ext cx="3767328" cy="2286000"/>
          </a:xfrm>
          <a:prstGeom prst="roundRect">
            <a:avLst>
              <a:gd name="adj" fmla="val 6500"/>
            </a:avLst>
          </a:prstGeom>
          <a:noFill/>
          <a:ln w="16510">
            <a:solidFill>
              <a:srgbClr val="A6A6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36008" y="2414016"/>
            <a:ext cx="640080" cy="338328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00000"/>
                </a:solidFill>
                <a:latin typeface="Arial"/>
              </a:rPr>
              <a:t>×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3273552"/>
            <a:ext cx="1115568" cy="420624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ctr">
              <a:spcAft>
                <a:spcPts val="100"/>
              </a:spcAft>
            </a:pPr>
            <a:r>
              <a:rPr sz="2300" b="1">
                <a:solidFill>
                  <a:srgbClr val="000000"/>
                </a:solidFill>
                <a:latin typeface="Arial"/>
              </a:rPr>
              <a:t>Mixture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44752" y="3474720"/>
            <a:ext cx="429767" cy="0"/>
          </a:xfrm>
          <a:prstGeom prst="line">
            <a:avLst/>
          </a:prstGeom>
          <a:ln w="22860">
            <a:solidFill>
              <a:srgbClr val="445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874519" y="2743200"/>
            <a:ext cx="1472184" cy="1463040"/>
          </a:xfrm>
          <a:prstGeom prst="roundRect">
            <a:avLst>
              <a:gd name="adj" fmla="val 10000"/>
            </a:avLst>
          </a:prstGeom>
          <a:solidFill>
            <a:srgbClr val="CFE2F3"/>
          </a:solidFill>
          <a:ln w="2286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/>
          <a:lstStyle/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00000"/>
                </a:solidFill>
                <a:latin typeface="Arial"/>
              </a:rPr>
              <a:t>Time</a:t>
            </a:r>
          </a:p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00000"/>
                </a:solidFill>
                <a:latin typeface="Arial"/>
              </a:rPr>
              <a:t>Module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46704" y="3474720"/>
            <a:ext cx="310896" cy="0"/>
          </a:xfrm>
          <a:prstGeom prst="line">
            <a:avLst/>
          </a:prstGeom>
          <a:ln w="22860">
            <a:solidFill>
              <a:srgbClr val="445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2743200"/>
            <a:ext cx="1563624" cy="1463040"/>
          </a:xfrm>
          <a:prstGeom prst="roundRect">
            <a:avLst>
              <a:gd name="adj" fmla="val 10000"/>
            </a:avLst>
          </a:prstGeom>
          <a:solidFill>
            <a:srgbClr val="CFE2F3"/>
          </a:solidFill>
          <a:ln w="2286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/>
          <a:lstStyle/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00000"/>
                </a:solidFill>
                <a:latin typeface="Arial"/>
              </a:rPr>
              <a:t>Frequency</a:t>
            </a:r>
          </a:p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00000"/>
                </a:solidFill>
                <a:latin typeface="Arial"/>
              </a:rPr>
              <a:t>Module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21224" y="3474720"/>
            <a:ext cx="841248" cy="0"/>
          </a:xfrm>
          <a:prstGeom prst="line">
            <a:avLst/>
          </a:prstGeom>
          <a:ln w="22860">
            <a:solidFill>
              <a:srgbClr val="445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68112" y="2633472"/>
            <a:ext cx="1243584" cy="329184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[T, F, D]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2971800"/>
            <a:ext cx="1307592" cy="100584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2286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/>
          <a:lstStyle/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00000"/>
                </a:solidFill>
                <a:latin typeface="Arial"/>
              </a:rPr>
              <a:t>Pooling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70064" y="3474720"/>
            <a:ext cx="356615" cy="0"/>
          </a:xfrm>
          <a:prstGeom prst="line">
            <a:avLst/>
          </a:prstGeom>
          <a:ln w="2286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26679" y="2377440"/>
            <a:ext cx="0" cy="2194560"/>
          </a:xfrm>
          <a:prstGeom prst="line">
            <a:avLst/>
          </a:prstGeom>
          <a:ln w="2286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726679" y="2377440"/>
            <a:ext cx="548641" cy="0"/>
          </a:xfrm>
          <a:prstGeom prst="line">
            <a:avLst/>
          </a:prstGeom>
          <a:ln w="22860">
            <a:solidFill>
              <a:srgbClr val="445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75320" y="1435608"/>
            <a:ext cx="1801368" cy="301752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[F, 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828800"/>
            <a:ext cx="1801368" cy="1097280"/>
          </a:xfrm>
          <a:prstGeom prst="roundRect">
            <a:avLst>
              <a:gd name="adj" fmla="val 10000"/>
            </a:avLst>
          </a:prstGeom>
          <a:solidFill>
            <a:srgbClr val="CFE2F3"/>
          </a:solidFill>
          <a:ln w="2286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/>
          <a:lstStyle/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00000"/>
                </a:solidFill>
                <a:latin typeface="Arial"/>
              </a:rPr>
              <a:t>Frequency</a:t>
            </a:r>
          </a:p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00000"/>
                </a:solidFill>
                <a:latin typeface="Arial"/>
              </a:rPr>
              <a:t>Module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076688" y="2377440"/>
            <a:ext cx="484632" cy="0"/>
          </a:xfrm>
          <a:prstGeom prst="line">
            <a:avLst/>
          </a:prstGeom>
          <a:ln w="22860">
            <a:solidFill>
              <a:srgbClr val="445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643616" y="2157984"/>
            <a:ext cx="1161288" cy="429768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ctr">
              <a:spcAft>
                <a:spcPts val="10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CTF 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26679" y="4572000"/>
            <a:ext cx="548641" cy="0"/>
          </a:xfrm>
          <a:prstGeom prst="line">
            <a:avLst/>
          </a:prstGeom>
          <a:ln w="22860">
            <a:solidFill>
              <a:srgbClr val="445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75320" y="3630168"/>
            <a:ext cx="1801368" cy="301752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ctr">
              <a:spcAft>
                <a:spcPts val="100"/>
              </a:spcAft>
            </a:pPr>
            <a:r>
              <a:rPr sz="1800" b="0">
                <a:solidFill>
                  <a:srgbClr val="000000"/>
                </a:solidFill>
                <a:latin typeface="Arial"/>
              </a:rPr>
              <a:t>[F, D]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023360"/>
            <a:ext cx="1801368" cy="1097280"/>
          </a:xfrm>
          <a:prstGeom prst="roundRect">
            <a:avLst>
              <a:gd name="adj" fmla="val 10000"/>
            </a:avLst>
          </a:prstGeom>
          <a:solidFill>
            <a:srgbClr val="CFE2F3"/>
          </a:solidFill>
          <a:ln w="2286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/>
          <a:lstStyle/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00000"/>
                </a:solidFill>
                <a:latin typeface="Arial"/>
              </a:rPr>
              <a:t>Frequency</a:t>
            </a:r>
          </a:p>
          <a:p>
            <a:pPr algn="ctr">
              <a:spcAft>
                <a:spcPts val="100"/>
              </a:spcAft>
            </a:pPr>
            <a:r>
              <a:rPr sz="2100" b="1">
                <a:solidFill>
                  <a:srgbClr val="000000"/>
                </a:solidFill>
                <a:latin typeface="Arial"/>
              </a:rPr>
              <a:t>Module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076688" y="4572000"/>
            <a:ext cx="484632" cy="0"/>
          </a:xfrm>
          <a:prstGeom prst="line">
            <a:avLst/>
          </a:prstGeom>
          <a:ln w="22860">
            <a:solidFill>
              <a:srgbClr val="44546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643616" y="4352544"/>
            <a:ext cx="1161288" cy="429768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ctr">
              <a:spcAft>
                <a:spcPts val="100"/>
              </a:spcAft>
            </a:pPr>
            <a:r>
              <a:rPr sz="2400" b="1">
                <a:solidFill>
                  <a:srgbClr val="000000"/>
                </a:solidFill>
                <a:latin typeface="Arial"/>
              </a:rPr>
              <a:t>CTF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19088"/>
            <a:ext cx="502920" cy="228600"/>
          </a:xfrm>
          <a:prstGeom prst="rect">
            <a:avLst/>
          </a:prstGeom>
          <a:noFill/>
        </p:spPr>
        <p:txBody>
          <a:bodyPr wrap="none" lIns="9144" rIns="9144" tIns="9144" bIns="9144">
            <a:spAutoFit/>
          </a:bodyPr>
          <a:lstStyle/>
          <a:p>
            <a:pPr algn="r">
              <a:spcAft>
                <a:spcPts val="100"/>
              </a:spcAft>
            </a:pPr>
            <a:r>
              <a:rPr sz="1200" b="0">
                <a:solidFill>
                  <a:srgbClr val="777777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CTF Estimation Model</dc:title>
  <dc:subject/>
  <dc:creator>Nitsu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
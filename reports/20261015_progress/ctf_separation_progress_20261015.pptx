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元レポート: https://chatgpt.com/space/page_7274532747808191b5d98eaa8c387e2b</a:t>
            </a:r>
          </a:p>
          <a:p/>
          <a:p>
            <a:r>
              <a:t>研究関連70 Issue（親課題など17件、子Issue53件）を対象とした報告の簡潔版。過去の確定testと途中validを区別する。Linearと参照先成果物による10月15日のスナップショット。</a:t>
            </a:r>
          </a:p>
          <a:p/>
          <a:p>
            <a:r>
              <a:t>出典: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元レポート: https://chatgpt.com/space/page_7274532747808191b5d98eaa8c387e2b</a:t>
            </a:r>
          </a:p>
          <a:p/>
          <a:p>
            <a:r>
              <a:t>Rec-RIR All loss: 3,150,172 params, RMSE .0047832408。TF-Locoformer Sweep v2: 2,603,921, .0049075850。BiMamba:456,428,.0048784958。Rec-RIRより85.51%少ないparams、物理RIR RMSEは約1.99%大きい。Rec-RIRは学習損失が異なるため手法全体の比較。16kHz、full input ch0、ordinary Sweep PIM、2秒RIR、peak合わせ・正規化・RMSE PIT。単一best、seed0。元結果: egs2/whamr/rir_2spk/exp/pooled_bimamba_evaluation_20261007/comparison.json。</a:t>
            </a:r>
          </a:p>
          <a:p/>
          <a:p>
            <a:r>
              <a:t>出典:</a:t>
            </a:r>
          </a:p>
          <a:p>
            <a:r>
              <a:t>https://linear.app/nitsu22/issue/DAI-10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元レポート: https://chatgpt.com/space/page_7274532747808191b5d98eaa8c387e2b</a:t>
            </a:r>
          </a:p>
          <a:p/>
          <a:p>
            <a:r>
              <a:t>固定LS direct-reverb参照RMSE:基準.0014111907、後段Freq BiMamba.0013556490、前後Freq BiMamba.0012199479（基準比13.55%減）。前後置換のLS DRR/C50診断誤差は小幅悪化。LSは相対伝達の形状で、DRR/C50/RT60を物理部屋パラメータとは解釈しない。物理RIRのDRR補助:1.792919→1.015485dB（43.36%低下）、RMSE .00487850→.00491808（0.81%悪化）。速度はA100 40GB、FP32、4秒、batch1、ランダム重み、I/O除外。時間BiLSTMでCTF18.4995→10.9131ms、RIRまで412.5335→405.8437ms。全構造に一貫した改善とは言わない。</a:t>
            </a:r>
          </a:p>
          <a:p/>
          <a:p>
            <a:r>
              <a:t>出典:</a:t>
            </a:r>
          </a:p>
          <a:p>
            <a:r>
              <a:t>https://linear.app/nitsu22/issue/DAI-49</a:t>
            </a:r>
          </a:p>
          <a:p>
            <a:r>
              <a:t>https://linear.app/nitsu22/issue/DAI-50</a:t>
            </a:r>
          </a:p>
          <a:p>
            <a:r>
              <a:t>https://linear.app/nitsu22/issue/DAI-24</a:t>
            </a:r>
          </a:p>
          <a:p>
            <a:r>
              <a:t>https://linear.app/nitsu22/issue/DAI-69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元レポート: https://chatgpt.com/space/page_7274532747808191b5d98eaa8c387e2b</a:t>
            </a:r>
          </a:p>
          <a:p/>
          <a:p>
            <a:r>
              <a:t>Sは同実効batch8でBaseline17.58、Estimated CTF18.14。別の実効batch16ではEstimated18.00、Random17.35で推定が.65dB上回る。Mはbest146/119ep、20.132→20.068dB。M SDR21.309→21.675。Sはidentity初期化修正前、Mは修正後で、実行時期・GPUなども異なるためサイズだけの厳密比較ではない。SのOracle18.67はOracle RIRであってOracle CTF時間連結と別。seed0。元監査:https://linear.app/nitsu22/issue/DAI-17#comment-ff12b3f4-7e51-4fab-a85c-48a38c9e65e0。</a:t>
            </a:r>
          </a:p>
          <a:p/>
          <a:p>
            <a:r>
              <a:t>出典:</a:t>
            </a:r>
          </a:p>
          <a:p>
            <a:r>
              <a:t>https://linear.app/nitsu22/issue/DAI-17</a:t>
            </a:r>
          </a:p>
          <a:p>
            <a:r>
              <a:t>https://linear.app/nitsu22/issue/DAI-19</a:t>
            </a:r>
          </a:p>
          <a:p>
            <a:r>
              <a:t>https://linear.app/nitsu22/issue/DAI-20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元レポート: https://chatgpt.com/space/page_7274532747808191b5d98eaa8c387e2b</a:t>
            </a:r>
          </a:p>
          <a:p/>
          <a:p>
            <a:r>
              <a:t>3損失はclean負SNR、残響RI+Mag、CTF再構成、重み1/.1/.5。H100 1GPU、FP32、batch1 accum1 seed0。best/ES:3損失29/34、cleanのみ10/15。test SI-SNR13.50対11.19、SDR14.76対12.71、STOI96.05%対94.18%。停止epoch差も含む実験全体の観測で、CTF再構成項単独の効果とは分解できない。既存enh4_clean S18.28/M20.65は別学習条件の手法全体比較。公式HETMIXRの完全再現ではなくNF-WHAMRへの適用。元結果https://linear.app/nitsu22/issue/DAI-21#comment-2c6c5e42-b373-412d-9d8d-ed71ec6d98a6。</a:t>
            </a:r>
          </a:p>
          <a:p/>
          <a:p>
            <a:r>
              <a:t>出典:</a:t>
            </a:r>
          </a:p>
          <a:p>
            <a:r>
              <a:t>https://linear.app/nitsu22/issue/DAI-9</a:t>
            </a:r>
          </a:p>
          <a:p>
            <a:r>
              <a:t>https://linear.app/nitsu22/issue/DAI-21</a:t>
            </a:r>
          </a:p>
          <a:p>
            <a:r>
              <a:t>https://linear.app/nitsu22/issue/DAI-41</a:t>
            </a:r>
          </a:p>
          <a:p>
            <a:r>
              <a:t>https://linear.app/nitsu22/issue/DAI-61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元レポート: https://chatgpt.com/space/page_7274532747808191b5d98eaa8c387e2b</a:t>
            </a:r>
          </a:p>
          <a:p/>
          <a:p>
            <a:r>
              <a:t>10/15 17:09頃の共有train.log。同21ep:両.770、room.764、path.764、なし.770（丸め値）。最新完了/最良:両32ep/.748、room21/.764、path21/.764、なし24/.761。進行度が異なるので最良値で効果を断定しない。λroom/path:両.01/.01、room.01/0、path0/.01、なし0/0。479788 params、paired batch2=4波形、projection32、temperature.1、validation primaryのみ、対照損失なし、停止valid.loss_sweep。SSHで現在状態は未照会。SPMambaはローカルで54/56ep正常終了、test未。固定BiMamba-S NF8は10/15 14:08採点再投入記録。Oracleは10/14 15:01時点validのみ。</a:t>
            </a:r>
          </a:p>
          <a:p/>
          <a:p>
            <a:r>
              <a:t>出典:</a:t>
            </a:r>
          </a:p>
          <a:p>
            <a:r>
              <a:t>https://linear.app/nitsu22/issue/DAI-68</a:t>
            </a:r>
          </a:p>
          <a:p>
            <a:r>
              <a:t>https://linear.app/nitsu22/issue/DAI-51</a:t>
            </a:r>
          </a:p>
          <a:p>
            <a:r>
              <a:t>https://linear.app/nitsu22/issue/DAI-28</a:t>
            </a:r>
          </a:p>
          <a:p>
            <a:r>
              <a:t>https://linear.app/nitsu22/issue/DAI-43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元レポート: https://chatgpt.com/space/page_7274532747808191b5d98eaa8c387e2b</a:t>
            </a:r>
          </a:p>
          <a:p/>
          <a:p>
            <a:r>
              <a:t>DeltaNet-M:同30ep10.846対通常nocache M10.480 +.366、10/12 00:40ログで31ep途中、約5h/ep、1GPU FP32 batch1 accum4。Split S:同25ep9.522対9.237 +.285、24h停止で再開待ち、約56min/ep対S baseline約37min。時間MHSA→BiMamba S:同35ep9.671対9.626 +.045、10/13 03:12時間制限停止、再開待ち、約42min/ep。いずれも最終test未確認、最後の記録日時の状態。時間BiMambaはCTF条件付けとは別の分離器構造。</a:t>
            </a:r>
          </a:p>
          <a:p/>
          <a:p>
            <a:r>
              <a:t>出典:</a:t>
            </a:r>
          </a:p>
          <a:p>
            <a:r>
              <a:t>https://linear.app/nitsu22/issue/DAI-23</a:t>
            </a:r>
          </a:p>
          <a:p>
            <a:r>
              <a:t>https://linear.app/nitsu22/issue/DAI-40</a:t>
            </a:r>
          </a:p>
          <a:p>
            <a:r>
              <a:t>https://linear.app/nitsu22/issue/DAI-46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元レポート: https://chatgpt.com/space/page_7274532747808191b5d98eaa8c387e2b</a:t>
            </a:r>
          </a:p>
          <a:p/>
          <a:p>
            <a:r>
              <a:t>結論は単一seedの結果に限定。確定testと途中validを混ぜない。優先する結果は新しい固定BiMamba-SのCPU採点、room/path4条件の同一条件test、DAMSEP2vs3損失と構造アブレーション。物理RIR参照とLS参照を分け、両方で評価する。詳細な全70Issue、BUT、Attentionアブレーション等は元レポート。現在の実行状態を新たに監視・変更したものではない。</a:t>
            </a:r>
          </a:p>
          <a:p/>
          <a:p>
            <a:r>
              <a:t>出典:</a:t>
            </a:r>
          </a:p>
          <a:p>
            <a:r>
              <a:t>https://linear.app/nitsu22/issue/DAI-28</a:t>
            </a:r>
          </a:p>
          <a:p>
            <a:r>
              <a:t>https://linear.app/nitsu22/issue/DAI-68</a:t>
            </a:r>
          </a:p>
          <a:p>
            <a:r>
              <a:t>https://linear.app/nitsu22/issue/DAI-61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/space/page_7274532747808191b5d98eaa8c387e2b" TargetMode="Externa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/space/page_7274532747808191b5d98eaa8c387e2b" TargetMode="Externa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/space/page_7274532747808191b5d98eaa8c387e2b" TargetMode="Externa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/space/page_7274532747808191b5d98eaa8c387e2b" TargetMode="Externa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/space/page_7274532747808191b5d98eaa8c387e2b" TargetMode="Externa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/space/page_7274532747808191b5d98eaa8c387e2b" TargetMode="Externa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/space/page_7274532747808191b5d98eaa8c387e2b" TargetMode="Externa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hatgpt.com/space/page_7274532747808191b5d98eaa8c387e2b" TargetMode="Externa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11480"/>
            <a:ext cx="384048" cy="6400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292608"/>
            <a:ext cx="9052560" cy="29260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RESEARCH UPDATE  /  2026.10.15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32104"/>
            <a:ext cx="10972800" cy="60350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CTF推定と音声分離</a:t>
            </a:r>
          </a:p>
        </p:txBody>
      </p:sp>
      <p:sp>
        <p:nvSpPr>
          <p:cNvPr id="5" name="Rectangle 4"/>
          <p:cNvSpPr/>
          <p:nvPr/>
        </p:nvSpPr>
        <p:spPr>
          <a:xfrm>
            <a:off x="594360" y="6217920"/>
            <a:ext cx="10972800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12648" y="6355080"/>
            <a:ext cx="9784080" cy="21945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出典：Linear実験進捗レポート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31552" y="6355080"/>
            <a:ext cx="731520" cy="21945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  <a:hlinkClick r:id="rId2"/>
              </a:rPr>
              <a:t>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0" y="6345936"/>
            <a:ext cx="594360" cy="23774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01 / 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1773936"/>
            <a:ext cx="10972800" cy="5669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7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軽量な残響推定は、分離性能にどう寄与するか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816352"/>
            <a:ext cx="3511296" cy="19933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980944"/>
            <a:ext cx="3108960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01  CTF推定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5528" y="3474720"/>
            <a:ext cx="3108960" cy="42976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</a:rPr>
              <a:t>軽量化と推定精度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8" y="4087368"/>
            <a:ext cx="3108960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BiMambaと構造の比較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25112" y="2816352"/>
            <a:ext cx="3511296" cy="19933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2980944"/>
            <a:ext cx="3108960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02  音声分離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26280" y="3474720"/>
            <a:ext cx="3108960" cy="42976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</a:rPr>
              <a:t>CTF情報を使う効果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4087368"/>
            <a:ext cx="3108960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条件付けと補助損失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55864" y="2816352"/>
            <a:ext cx="3511296" cy="19933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57032" y="2980944"/>
            <a:ext cx="3108960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03  次の比較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7032" y="3474720"/>
            <a:ext cx="3108960" cy="42976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</a:rPr>
              <a:t>最終testで切り分け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57032" y="4087368"/>
            <a:ext cx="3108960" cy="41148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room / path・DAMSEP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504688"/>
            <a:ext cx="10972800" cy="484632"/>
          </a:xfrm>
          <a:prstGeom prst="roundRect">
            <a:avLst>
              <a:gd name="adj" fmla="val 12000"/>
            </a:avLst>
          </a:prstGeom>
          <a:solidFill>
            <a:srgbClr val="E7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5605272"/>
            <a:ext cx="1056132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</a:rPr>
              <a:t>確定したtest結果を中心に、途中validは区別して報告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11480"/>
            <a:ext cx="384048" cy="6400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292608"/>
            <a:ext cx="9052560" cy="29260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01  CTF推定の軽量化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32104"/>
            <a:ext cx="10972800" cy="60350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BiMambaは約0.46Mパラメータ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499616"/>
            <a:ext cx="10881360" cy="34747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物理RIR参照のtest  /  3,000混合・6,000 RIR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217920"/>
            <a:ext cx="10972800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355080"/>
            <a:ext cx="9784080" cy="21945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出典：DAI-10 / 基準モデル比較結果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31552" y="6355080"/>
            <a:ext cx="731520" cy="21945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  <a:hlinkClick r:id="rId2"/>
              </a:rPr>
              <a:t>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45936"/>
            <a:ext cx="594360" cy="23774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02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48256"/>
            <a:ext cx="5715000" cy="313639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212848"/>
            <a:ext cx="5312664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パラメータ数  /  M = 100万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70632"/>
            <a:ext cx="2194560" cy="32918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203447"/>
                </a:solidFill>
                <a:latin typeface="Noto Sans CJK JP"/>
                <a:ea typeface="Noto Sans CJK JP"/>
                <a:cs typeface="Noto Sans CJK JP"/>
              </a:rPr>
              <a:t>Rec-RIR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9776" y="2807208"/>
            <a:ext cx="2180844" cy="246888"/>
          </a:xfrm>
          <a:prstGeom prst="rect">
            <a:avLst/>
          </a:prstGeom>
          <a:solidFill>
            <a:srgbClr val="142D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93792" y="2761488"/>
            <a:ext cx="82296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3.150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493008"/>
            <a:ext cx="2194560" cy="32918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203447"/>
                </a:solidFill>
                <a:latin typeface="Noto Sans CJK JP"/>
                <a:ea typeface="Noto Sans CJK JP"/>
                <a:cs typeface="Noto Sans CJK JP"/>
              </a:rPr>
              <a:t>TF-Locoformer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79776" y="3529584"/>
            <a:ext cx="1802831" cy="246888"/>
          </a:xfrm>
          <a:prstGeom prst="rect">
            <a:avLst/>
          </a:prstGeom>
          <a:solidFill>
            <a:srgbClr val="9AA9B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93792" y="3483864"/>
            <a:ext cx="82296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9AA9B7"/>
                </a:solidFill>
                <a:latin typeface="Noto Sans CJK JP"/>
                <a:ea typeface="Noto Sans CJK JP"/>
                <a:cs typeface="Noto Sans CJK JP"/>
              </a:rPr>
              <a:t>2.604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215383"/>
            <a:ext cx="2194560" cy="32918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203447"/>
                </a:solidFill>
                <a:latin typeface="Noto Sans CJK JP"/>
                <a:ea typeface="Noto Sans CJK JP"/>
                <a:cs typeface="Noto Sans CJK JP"/>
              </a:rPr>
              <a:t>BiMamba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9776" y="4251959"/>
            <a:ext cx="315703" cy="24688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4206240"/>
            <a:ext cx="82296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</a:rPr>
              <a:t>0.456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611112" y="2295144"/>
          <a:ext cx="4937760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7480"/>
                <a:gridCol w="2240280"/>
              </a:tblGrid>
              <a:tr h="5669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モデル</a:t>
                      </a:r>
                    </a:p>
                  </a:txBody>
                  <a:tcPr marL="118872" marR="91440" marT="64008" marB="45720" anchor="ctr">
                    <a:solidFill>
                      <a:srgbClr val="142D4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700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RMSE ↓</a:t>
                      </a:r>
                    </a:p>
                  </a:txBody>
                  <a:tcPr marL="118872" marR="91440" marT="64008" marB="45720" anchor="ctr">
                    <a:solidFill>
                      <a:srgbClr val="142D4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9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Rec-RIR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0.004783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9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TF-Locoformer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0.004908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087F8C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BiMamba</a:t>
                      </a:r>
                    </a:p>
                  </a:txBody>
                  <a:tcPr marL="118872" marR="91440" marT="64008" marB="45720" anchor="ctr">
                    <a:solidFill>
                      <a:srgbClr val="E7F3F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087F8C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0.004878</a:t>
                      </a:r>
                    </a:p>
                  </a:txBody>
                  <a:tcPr marL="118872" marR="91440" marT="64008" marB="45720" anchor="ctr">
                    <a:solidFill>
                      <a:srgbClr val="E7F3F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22" name="TextBox 21"/>
          <p:cNvSpPr txBox="1"/>
          <p:nvPr/>
        </p:nvSpPr>
        <p:spPr>
          <a:xfrm>
            <a:off x="6821424" y="4690872"/>
            <a:ext cx="4526280" cy="39319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</a:rPr>
              <a:t>Rec-RIR比  −85.5%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94360" y="5504688"/>
            <a:ext cx="10972800" cy="484632"/>
          </a:xfrm>
          <a:prstGeom prst="roundRect">
            <a:avLst>
              <a:gd name="adj" fmla="val 12000"/>
            </a:avLst>
          </a:prstGeom>
          <a:solidFill>
            <a:srgbClr val="E7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" y="5605272"/>
            <a:ext cx="1056132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</a:rPr>
              <a:t>約85.5%少ないパラメータで、Rec-RIRとのRMSE差は約2.0%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" y="6035040"/>
            <a:ext cx="10789920" cy="17373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学習損失はモデル間で異なる。単一seedの比較。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11480"/>
            <a:ext cx="384048" cy="6400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292608"/>
            <a:ext cx="9052560" cy="29260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02  構造と損失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32104"/>
            <a:ext cx="10972800" cy="60350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推定精度の改善にはトレードオフがある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499616"/>
            <a:ext cx="10881360" cy="34747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同一参照内で比較  /  LS参照と物理RIR参照の値は混ぜない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217920"/>
            <a:ext cx="10972800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355080"/>
            <a:ext cx="9784080" cy="21945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出典：DAI-49 / DAI-50 / DAI-24 / DAI-69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31552" y="6355080"/>
            <a:ext cx="731520" cy="21945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  <a:hlinkClick r:id="rId2"/>
              </a:rPr>
              <a:t>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45936"/>
            <a:ext cx="594360" cy="23774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03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94360" y="2029968"/>
            <a:ext cx="5376672" cy="3182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194560"/>
            <a:ext cx="4974336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周波数処理の置換  /  固定LS参照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04672" y="2734056"/>
          <a:ext cx="4928616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5224"/>
                <a:gridCol w="1993392"/>
              </a:tblGrid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構成</a:t>
                      </a:r>
                    </a:p>
                  </a:txBody>
                  <a:tcPr marL="118872" marR="91440" marT="64008" marB="45720" anchor="ctr">
                    <a:solidFill>
                      <a:srgbClr val="142D4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600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RMSE ↓</a:t>
                      </a:r>
                    </a:p>
                  </a:txBody>
                  <a:tcPr marL="118872" marR="91440" marT="64008" marB="45720" anchor="ctr">
                    <a:solidFill>
                      <a:srgbClr val="142D4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基準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0.001411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後段BiMamba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0.001356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87F8C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前後BiMamba</a:t>
                      </a:r>
                    </a:p>
                  </a:txBody>
                  <a:tcPr marL="118872" marR="91440" marT="64008" marB="45720" anchor="ctr">
                    <a:solidFill>
                      <a:srgbClr val="E7F3F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800" b="1">
                          <a:solidFill>
                            <a:srgbClr val="087F8C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0.001220</a:t>
                      </a:r>
                    </a:p>
                  </a:txBody>
                  <a:tcPr marL="118872" marR="91440" marT="64008" marB="45720" anchor="ctr">
                    <a:solidFill>
                      <a:srgbClr val="E7F3F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822960" y="4718304"/>
            <a:ext cx="475488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</a:rPr>
              <a:t>前後置換で −13.6%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2029968"/>
            <a:ext cx="5367528" cy="318211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194560"/>
            <a:ext cx="4965192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DRR補助損失  /  物理RIR参照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28232" y="2770632"/>
            <a:ext cx="4754880" cy="32918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DRR MAE 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8232" y="3273552"/>
            <a:ext cx="4754880" cy="5486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90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</a:rPr>
              <a:t>1.793 → 1.015 dB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376" y="3986784"/>
            <a:ext cx="2651760" cy="53035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</a:rPr>
              <a:t>−43.4%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709160"/>
            <a:ext cx="4663440" cy="35661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A86918"/>
                </a:solidFill>
                <a:latin typeface="Noto Sans CJK JP"/>
                <a:ea typeface="Noto Sans CJK JP"/>
                <a:cs typeface="Noto Sans CJK JP"/>
              </a:rPr>
              <a:t>波形RMSEは約0.8%悪化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" y="5504688"/>
            <a:ext cx="10972800" cy="484632"/>
          </a:xfrm>
          <a:prstGeom prst="roundRect">
            <a:avLst>
              <a:gd name="adj" fmla="val 12000"/>
            </a:avLst>
          </a:prstGeom>
          <a:solidFill>
            <a:srgbClr val="E7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95528" y="5605272"/>
            <a:ext cx="1056132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</a:rPr>
              <a:t>時間BiLSTM置換：CTF推論41%短縮 ／ RIR復元込み1.6%短縮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11480"/>
            <a:ext cx="384048" cy="6400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292608"/>
            <a:ext cx="9052560" cy="29260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03  音声分離への利用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32104"/>
            <a:ext cx="10972800" cy="60350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CTF条件付けはSで改善、Mでは横ばい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499616"/>
            <a:ext cx="10881360" cy="34747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過去のenh_rir系列  /  test SI-SNR  /  推定CTFとFiLMによる条件付け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217920"/>
            <a:ext cx="10972800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355080"/>
            <a:ext cx="9784080" cy="21945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出典：DAI-17 / DAI-19 / DAI-20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31552" y="6355080"/>
            <a:ext cx="731520" cy="21945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  <a:hlinkClick r:id="rId2"/>
              </a:rPr>
              <a:t>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45936"/>
            <a:ext cx="594360" cy="23774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04 / 08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2194560"/>
          <a:ext cx="9811512" cy="22219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743200"/>
                <a:gridCol w="2743200"/>
                <a:gridCol w="2221992"/>
              </a:tblGrid>
              <a:tr h="7406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分離器</a:t>
                      </a:r>
                    </a:p>
                  </a:txBody>
                  <a:tcPr marL="118872" marR="91440" marT="64008" marB="45720" anchor="ctr">
                    <a:solidFill>
                      <a:srgbClr val="142D4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Baseline</a:t>
                      </a:r>
                    </a:p>
                  </a:txBody>
                  <a:tcPr marL="118872" marR="91440" marT="64008" marB="45720" anchor="ctr">
                    <a:solidFill>
                      <a:srgbClr val="142D4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推定CTF</a:t>
                      </a:r>
                    </a:p>
                  </a:txBody>
                  <a:tcPr marL="118872" marR="91440" marT="64008" marB="45720" anchor="ctr">
                    <a:solidFill>
                      <a:srgbClr val="142D4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差 dB</a:t>
                      </a:r>
                    </a:p>
                  </a:txBody>
                  <a:tcPr marL="118872" marR="91440" marT="64008" marB="45720" anchor="ctr">
                    <a:solidFill>
                      <a:srgbClr val="142D4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406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S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17.58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18.14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＋0.56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40664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M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20.132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20.068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−0.064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731520" y="4654296"/>
            <a:ext cx="5212080" cy="5486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4818888"/>
            <a:ext cx="4809744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MのSDRは ＋0.366 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782312"/>
            <a:ext cx="5120640" cy="33832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SとMは初期化・学習条件も異なる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504688"/>
            <a:ext cx="10972800" cy="484632"/>
          </a:xfrm>
          <a:prstGeom prst="roundRect">
            <a:avLst>
              <a:gd name="adj" fmla="val 12000"/>
            </a:avLst>
          </a:prstGeom>
          <a:solidFill>
            <a:srgbClr val="E7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5605272"/>
            <a:ext cx="1056132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</a:rPr>
              <a:t>初期のvalid改善と、最終testの改善を分けて評価する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11480"/>
            <a:ext cx="384048" cy="6400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292608"/>
            <a:ext cx="9052560" cy="29260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04  損失と除残響の比較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32104"/>
            <a:ext cx="10972800" cy="60350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DAMSEPは補助損失群で改善した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499616"/>
            <a:ext cx="10881360" cy="34747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NF-WHAMR 8 kHz  /  test 3,000件  /  同じモデルの損失アブレーション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217920"/>
            <a:ext cx="10972800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355080"/>
            <a:ext cx="9784080" cy="21945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出典：DAI-9 / DAI-21 / DAI-41 / DAI-61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31552" y="6355080"/>
            <a:ext cx="731520" cy="21945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  <a:hlinkClick r:id="rId2"/>
              </a:rPr>
              <a:t>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45936"/>
            <a:ext cx="594360" cy="23774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05 / 08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2267712"/>
          <a:ext cx="6720840" cy="21671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1828800"/>
                <a:gridCol w="1828800"/>
              </a:tblGrid>
              <a:tr h="72237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損失</a:t>
                      </a:r>
                    </a:p>
                  </a:txBody>
                  <a:tcPr marL="118872" marR="91440" marT="64008" marB="45720" anchor="ctr">
                    <a:solidFill>
                      <a:srgbClr val="142D4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SI-SNR dB</a:t>
                      </a:r>
                    </a:p>
                  </a:txBody>
                  <a:tcPr marL="118872" marR="91440" marT="64008" marB="45720" anchor="ctr">
                    <a:solidFill>
                      <a:srgbClr val="142D4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SDR dB</a:t>
                      </a:r>
                    </a:p>
                  </a:txBody>
                  <a:tcPr marL="118872" marR="91440" marT="64008" marB="45720" anchor="ctr">
                    <a:solidFill>
                      <a:srgbClr val="142D4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2237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cleanのみ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11.19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12.71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722376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300" b="1">
                          <a:solidFill>
                            <a:srgbClr val="087F8C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3損失</a:t>
                      </a:r>
                    </a:p>
                  </a:txBody>
                  <a:tcPr marL="118872" marR="91440" marT="64008" marB="45720" anchor="ctr">
                    <a:solidFill>
                      <a:srgbClr val="E7F3F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1">
                          <a:solidFill>
                            <a:srgbClr val="087F8C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13.50</a:t>
                      </a:r>
                    </a:p>
                  </a:txBody>
                  <a:tcPr marL="118872" marR="91440" marT="64008" marB="45720" anchor="ctr">
                    <a:solidFill>
                      <a:srgbClr val="E7F3F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300" b="1">
                          <a:solidFill>
                            <a:srgbClr val="087F8C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14.76</a:t>
                      </a:r>
                    </a:p>
                  </a:txBody>
                  <a:tcPr marL="118872" marR="91440" marT="64008" marB="45720" anchor="ctr">
                    <a:solidFill>
                      <a:srgbClr val="E7F3F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8074152" y="2468880"/>
            <a:ext cx="3200400" cy="87782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480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</a:rPr>
              <a:t>＋2.31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38160" y="3429000"/>
            <a:ext cx="310896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dB  SI-SNR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754880"/>
            <a:ext cx="107899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0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既存TF-Locoformer S：18.28 dB（別学習条件）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94360" y="5504688"/>
            <a:ext cx="10972800" cy="484632"/>
          </a:xfrm>
          <a:prstGeom prst="roundRect">
            <a:avLst>
              <a:gd name="adj" fmla="val 12000"/>
            </a:avLst>
          </a:prstGeom>
          <a:solidFill>
            <a:srgbClr val="E7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8" y="5605272"/>
            <a:ext cx="1056132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</a:rPr>
              <a:t>CTF再構成項だけの効果は、進行中の2損失条件で切り分ける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11480"/>
            <a:ext cx="384048" cy="6400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292608"/>
            <a:ext cx="9052560" cy="29260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05  CTF推定の次の比較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32104"/>
            <a:ext cx="10972800" cy="60350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roomとpathの効果は4条件で比較中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499616"/>
            <a:ext cx="10881360" cy="34747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途中valid.loss_sweep ↓  /  同一21 epoch  /  同じ追加データ・seed 0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217920"/>
            <a:ext cx="10972800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355080"/>
            <a:ext cx="9784080" cy="21945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出典：DAI-68 / DAI-51 / DAI-28 / DAI-43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31552" y="6355080"/>
            <a:ext cx="731520" cy="21945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  <a:hlinkClick r:id="rId2"/>
              </a:rPr>
              <a:t>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45936"/>
            <a:ext cx="594360" cy="23774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06 / 08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2176272"/>
          <a:ext cx="5440679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1874519"/>
              </a:tblGrid>
              <a:tr h="5486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対照損失</a:t>
                      </a:r>
                    </a:p>
                  </a:txBody>
                  <a:tcPr marL="118872" marR="91440" marT="64008" marB="45720" anchor="ctr">
                    <a:solidFill>
                      <a:srgbClr val="142D4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valid ↓</a:t>
                      </a:r>
                    </a:p>
                  </a:txBody>
                  <a:tcPr marL="118872" marR="91440" marT="64008" marB="45720" anchor="ctr">
                    <a:solidFill>
                      <a:srgbClr val="142D4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room ＋ path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0.770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roomのみ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0.764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pathのみ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0.764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548640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なし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0.770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1" name="Rounded Rectangle 10"/>
          <p:cNvSpPr/>
          <p:nvPr/>
        </p:nvSpPr>
        <p:spPr>
          <a:xfrm>
            <a:off x="6473952" y="2176272"/>
            <a:ext cx="4965192" cy="2743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0" y="2340864"/>
            <a:ext cx="4562855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ほかのCTF実験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408" y="2816352"/>
            <a:ext cx="44805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SPMamba型CTF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93408" y="3145536"/>
            <a:ext cx="4480560" cy="29260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学習終了・test待ち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93408" y="3483864"/>
            <a:ext cx="44805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固定BiMamba条件付きS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408" y="3813048"/>
            <a:ext cx="4480560" cy="29260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CPU採点の結果待ち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93408" y="4151376"/>
            <a:ext cx="4480560" cy="32004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8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Oracle CTF時間連結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93408" y="4480560"/>
            <a:ext cx="4480560" cy="29260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validのみ・test未確定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94360" y="5504688"/>
            <a:ext cx="10972800" cy="484632"/>
          </a:xfrm>
          <a:prstGeom prst="roundRect">
            <a:avLst>
              <a:gd name="adj" fmla="val 12000"/>
            </a:avLst>
          </a:prstGeom>
          <a:solidFill>
            <a:srgbClr val="E7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5528" y="5605272"/>
            <a:ext cx="1056132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</a:rPr>
              <a:t>全4条件の学習終了後、同じcheckpoint選択・参照信号でtest比較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6035040"/>
            <a:ext cx="10789920" cy="17373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room/path：10月15日17:09頃のログ。ほかの状態はレポートの最終確認時点。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11480"/>
            <a:ext cx="384048" cy="6400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292608"/>
            <a:ext cx="9052560" cy="29260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06  分離モデルの探索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32104"/>
            <a:ext cx="10972800" cy="60350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新しい分離器は最終testが未確定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499616"/>
            <a:ext cx="10881360" cy="34747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同epochのvalid SI-SNR差  /  正の差はBaselineより高い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217920"/>
            <a:ext cx="10972800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355080"/>
            <a:ext cx="9784080" cy="21945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出典：DAI-23 / DAI-40 / DAI-46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31552" y="6355080"/>
            <a:ext cx="731520" cy="21945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  <a:hlinkClick r:id="rId2"/>
              </a:rPr>
              <a:t>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45936"/>
            <a:ext cx="594360" cy="23774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07 / 08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731520" y="2212848"/>
          <a:ext cx="9811512" cy="24505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37560"/>
                <a:gridCol w="1280160"/>
                <a:gridCol w="2423160"/>
                <a:gridCol w="2770632"/>
              </a:tblGrid>
              <a:tr h="6126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構成</a:t>
                      </a:r>
                    </a:p>
                  </a:txBody>
                  <a:tcPr marL="118872" marR="91440" marT="64008" marB="45720" anchor="ctr">
                    <a:solidFill>
                      <a:srgbClr val="142D4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epoch</a:t>
                      </a:r>
                    </a:p>
                  </a:txBody>
                  <a:tcPr marL="118872" marR="91440" marT="64008" marB="45720" anchor="ctr">
                    <a:solidFill>
                      <a:srgbClr val="142D4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valid差 dB</a:t>
                      </a:r>
                    </a:p>
                  </a:txBody>
                  <a:tcPr marL="118872" marR="91440" marT="64008" marB="45720" anchor="ctr">
                    <a:solidFill>
                      <a:srgbClr val="142D4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1900" b="1">
                          <a:solidFill>
                            <a:srgbClr val="FFFFFF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記録上の状態</a:t>
                      </a:r>
                    </a:p>
                  </a:txBody>
                  <a:tcPr marL="118872" marR="91440" marT="64008" marB="45720" anchor="ctr">
                    <a:solidFill>
                      <a:srgbClr val="142D43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DeltaNet M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30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＋0.366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学習途中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Split S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25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＋0.285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再開待ち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612648">
                <a:tc>
                  <a:txBody>
                    <a:bodyPr wrap="square"/>
                    <a:lstStyle/>
                    <a:p>
                      <a:pPr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時間BiMamba S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35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＋0.045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/>
                    <a:lstStyle/>
                    <a:p>
                      <a:pPr algn="r">
                        <a:spcAft>
                          <a:spcPts val="0"/>
                        </a:spcAft>
                      </a:pPr>
                      <a:r>
                        <a:rPr sz="2100" b="0">
                          <a:solidFill>
                            <a:srgbClr val="203447"/>
                          </a:solidFill>
                          <a:latin typeface="Noto Sans CJK JP"/>
                          <a:ea typeface="Noto Sans CJK JP"/>
                          <a:cs typeface="Noto Sans CJK JP"/>
                        </a:rPr>
                        <a:t>再開待ち</a:t>
                      </a:r>
                    </a:p>
                  </a:txBody>
                  <a:tcPr marL="118872" marR="91440" marT="64008" marB="45720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95528" y="4910328"/>
            <a:ext cx="10789920" cy="38404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3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最終test・学習時間・モデル規模を合わせて判断する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5504688"/>
            <a:ext cx="10972800" cy="484632"/>
          </a:xfrm>
          <a:prstGeom prst="roundRect">
            <a:avLst>
              <a:gd name="adj" fmla="val 12000"/>
            </a:avLst>
          </a:prstGeom>
          <a:solidFill>
            <a:srgbClr val="E7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8" y="5605272"/>
            <a:ext cx="1056132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</a:rPr>
              <a:t>学習途中の小幅なvalid差だけでは、最終性能の優位性は判断しない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6035040"/>
            <a:ext cx="10789920" cy="17373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状態の最終記録：DeltaNet 10/12、Split 再開待ち、時間BiMamba 10/13。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9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94360" y="411480"/>
            <a:ext cx="384048" cy="64008"/>
          </a:xfrm>
          <a:prstGeom prst="rect">
            <a:avLst/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78992" y="292608"/>
            <a:ext cx="9052560" cy="292608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200" b="1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07  まとめと次の作業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832104"/>
            <a:ext cx="10972800" cy="60350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30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次は最終testと損失の寄与を確かめる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" y="1499616"/>
            <a:ext cx="10881360" cy="34747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5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軽量化は成立  /  分離への効果は条件依存</a:t>
            </a:r>
          </a:p>
        </p:txBody>
      </p:sp>
      <p:sp>
        <p:nvSpPr>
          <p:cNvPr id="6" name="Rectangle 5"/>
          <p:cNvSpPr/>
          <p:nvPr/>
        </p:nvSpPr>
        <p:spPr>
          <a:xfrm>
            <a:off x="594360" y="6217920"/>
            <a:ext cx="10972800" cy="10972"/>
          </a:xfrm>
          <a:prstGeom prst="rect">
            <a:avLst/>
          </a:prstGeom>
          <a:solidFill>
            <a:srgbClr val="DCE4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12648" y="6355080"/>
            <a:ext cx="9784080" cy="21945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出典：Linear実験進捗レポート / DAI-28 / DAI-68 / DAI-61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131552" y="6355080"/>
            <a:ext cx="731520" cy="219456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95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  <a:hlinkClick r:id="rId2"/>
              </a:rPr>
              <a:t>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0" y="6345936"/>
            <a:ext cx="594360" cy="23774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0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08 / 08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084831"/>
            <a:ext cx="548640" cy="548640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157984"/>
            <a:ext cx="2743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CJK JP"/>
                <a:ea typeface="Noto Sans CJK JP"/>
                <a:cs typeface="Noto Sans CJK JP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2093975"/>
            <a:ext cx="9784080" cy="39319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固定BiMamba条件付きS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2569463"/>
            <a:ext cx="9784080" cy="32918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採点結果を確定し、同条件のBaselineと比較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3108960"/>
            <a:ext cx="548640" cy="548640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77824" y="3182112"/>
            <a:ext cx="2743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CJK JP"/>
                <a:ea typeface="Noto Sans CJK JP"/>
                <a:cs typeface="Noto Sans CJK JP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118103"/>
            <a:ext cx="9784080" cy="39319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room / pathの4条件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3593591"/>
            <a:ext cx="9784080" cy="32918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学習終了後、物理RIRとLS参照を別々に評価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4133087"/>
            <a:ext cx="548640" cy="548640"/>
          </a:xfrm>
          <a:prstGeom prst="roundRect">
            <a:avLst>
              <a:gd name="adj" fmla="val 12000"/>
            </a:avLst>
          </a:prstGeom>
          <a:solidFill>
            <a:srgbClr val="087F8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7824" y="4206240"/>
            <a:ext cx="274320" cy="36576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200" b="1">
                <a:solidFill>
                  <a:srgbClr val="FFFFFF"/>
                </a:solidFill>
                <a:latin typeface="Noto Sans CJK JP"/>
                <a:ea typeface="Noto Sans CJK JP"/>
                <a:cs typeface="Noto Sans CJK JP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4142231"/>
            <a:ext cx="9784080" cy="393192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2400" b="1">
                <a:solidFill>
                  <a:srgbClr val="142D43"/>
                </a:solidFill>
                <a:latin typeface="Noto Sans CJK JP"/>
                <a:ea typeface="Noto Sans CJK JP"/>
                <a:cs typeface="Noto Sans CJK JP"/>
              </a:rPr>
              <a:t>DAMSEPの2損失と3損失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4617720"/>
            <a:ext cx="9784080" cy="329184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900" b="0">
                <a:solidFill>
                  <a:srgbClr val="617489"/>
                </a:solidFill>
                <a:latin typeface="Noto Sans CJK JP"/>
                <a:ea typeface="Noto Sans CJK JP"/>
                <a:cs typeface="Noto Sans CJK JP"/>
              </a:rPr>
              <a:t>CTF再構成項と除残響構造の寄与を切り分け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" y="5504688"/>
            <a:ext cx="10972800" cy="484632"/>
          </a:xfrm>
          <a:prstGeom prst="roundRect">
            <a:avLst>
              <a:gd name="adj" fmla="val 12000"/>
            </a:avLst>
          </a:prstGeom>
          <a:solidFill>
            <a:srgbClr val="E7F3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8" y="5605272"/>
            <a:ext cx="10561320" cy="274320"/>
          </a:xfrm>
          <a:prstGeom prst="rect">
            <a:avLst/>
          </a:prstGeom>
          <a:noFill/>
        </p:spPr>
        <p:txBody>
          <a:bodyPr wrap="square" lIns="9144" rIns="9144" tIns="0" bIns="0">
            <a:spAutoFit/>
          </a:bodyPr>
          <a:lstStyle/>
          <a:p>
            <a:pPr>
              <a:lnSpc>
                <a:spcPct val="112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>
                <a:solidFill>
                  <a:srgbClr val="087F8C"/>
                </a:solidFill>
                <a:latin typeface="Noto Sans CJK JP"/>
                <a:ea typeface="Noto Sans CJK JP"/>
                <a:cs typeface="Noto Sans CJK JP"/>
              </a:rPr>
              <a:t>詳細条件・結果表・出典は、各ページのREPORTリンクと発表者ノートへ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CTF推定と音声分離 研究進捗 2026年10月15日</dc:title>
  <dc:subject>Linear実験進捗レポートの簡潔版</dc:subject>
  <dc:creator>Daichi Nitsu</dc:creator>
  <cp:keywords>CTF, RIR, BiMamba, TF-Locoformer, DAMSEP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
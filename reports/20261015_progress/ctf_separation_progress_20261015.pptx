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元レポート：https://chatgpt.com/space/page_7274532747808191b5d98eaa8c387e2b</a:t>
            </a:r>
          </a:p>
          <a:p/>
          <a:p>
            <a:r>
              <a:t>元レポートの簡潔版。RIR推定の定量結果は固定LS direct-reverb参照のみ。新しい分離器の結果は含めない。記録日時は元レポートの確認時点。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元レポート：https://chatgpt.com/space/page_7274532747808191b5d98eaa8c387e2b</a:t>
            </a:r>
          </a:p>
          <a:p/>
          <a:p>
            <a:r>
              <a:t>固定16kHz LS direct-reverb参照、2秒RIR、全発話channel0、ordinary Sweep PIM、ピーク合わせ・ピーク正規化・RMSE PIT。全指標6,000有効。LS参照は相対伝達の形状評価で、DRR・RT60・C50は物理部屋パラメータではなく相対フィルタの診断量。Rec-RIRはAll loss、他はSweep v2であり、手法全体の比較。単一seed・単一best。パラメータRec-RIR3150172/TF-Locoformer2603921/BiMamba456428。</a:t>
            </a:r>
          </a:p>
          <a:p/>
          <a:p>
            <a:r>
              <a:t>https://linear.app/nitsu22/issue/DAI-10</a:t>
            </a:r>
          </a:p>
          <a:p>
            <a:r>
              <a:t>https://linear.app/nitsu22/issue/DAI-38</a:t>
            </a:r>
          </a:p>
          <a:p>
            <a:r>
              <a:t>https://linear.app/nitsu22/issue/DAI-45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元レポート：https://chatgpt.com/space/page_7274532747808191b5d98eaa8c387e2b</a:t>
            </a:r>
          </a:p>
          <a:p/>
          <a:p>
            <a:r>
              <a:t>各3,000混合・6,000 RIR、同一16kHz LS参照。前段2+後段2、後段Freq BiMamba、前後Freq BiMamba、時間局所Attention125を比較。基準比で前後Freq BiMambaのLS RMSEが13.5519%低下するがDRR/C50/RT60は同時改善しない。列はRMSE、相関、DRR MAE dB、RT60 MAE s、C50 MAE dB。すべて通常Sweep PIM・ピーク合わせ/正規化・RMSE PIT。単一seed。</a:t>
            </a:r>
          </a:p>
          <a:p/>
          <a:p>
            <a:r>
              <a:t>https://linear.app/nitsu22/issue/DAI-45</a:t>
            </a:r>
          </a:p>
          <a:p>
            <a:r>
              <a:t>https://linear.app/nitsu22/issue/DAI-49</a:t>
            </a:r>
          </a:p>
          <a:p>
            <a:r>
              <a:t>https://linear.app/nitsu22/issue/DAI-50</a:t>
            </a:r>
          </a:p>
          <a:p>
            <a:r>
              <a:t>https://linear.app/nitsu22/issue/DAI-54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元レポート：https://chatgpt.com/space/page_7274532747808191b5d98eaa8c387e2b</a:t>
            </a:r>
          </a:p>
          <a:p/>
          <a:p>
            <a:r>
              <a:t>Sは同実効batch8でBaseline17.58、推定CTF18.14。MはBaseline20.132、推定CTF20.068、best146/119epoch。MのSDRは21.309→21.675。S/Mで実行時期、初期化修正、GPU等が異なるためサイズだけの厳密比較ではない。単一seed。</a:t>
            </a:r>
          </a:p>
          <a:p/>
          <a:p>
            <a:r>
              <a:t>https://linear.app/nitsu22/issue/DAI-17</a:t>
            </a:r>
          </a:p>
          <a:p>
            <a:r>
              <a:t>https://linear.app/nitsu22/issue/DAI-19</a:t>
            </a:r>
          </a:p>
          <a:p>
            <a:r>
              <a:t>https://linear.app/nitsu22/issue/DAI-20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元レポート：https://chatgpt.com/space/page_7274532747808191b5d98eaa8c387e2b</a:t>
            </a:r>
          </a:p>
          <a:p/>
          <a:p>
            <a:r>
              <a:t>3損失はclean、残響、CTF再構成（重み1/.1/.5）。同モデル、FP32、H100 1枚、batch1 accum1 seed0。best/ESは3損失29/34epoch、cleanのみ10/15epoch。test SI-SNR13.50対11.19、SDR14.76対12.71。停止epoch差も含む実験全体の観測で、CTF再構成項単独の効果とは言えない。既存TF-Locoformer-S18.28はenh4_cleanの別学習条件。</a:t>
            </a:r>
          </a:p>
          <a:p/>
          <a:p>
            <a:r>
              <a:t>https://linear.app/nitsu22/issue/DAI-9</a:t>
            </a:r>
          </a:p>
          <a:p>
            <a:r>
              <a:t>https://linear.app/nitsu22/issue/DAI-21</a:t>
            </a:r>
          </a:p>
          <a:p>
            <a:r>
              <a:t>https://linear.app/nitsu22/issue/DAI-41</a:t>
            </a:r>
          </a:p>
          <a:p>
            <a:r>
              <a:t>https://linear.app/nitsu22/issue/DAI-61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元レポート：https://chatgpt.com/space/page_7274532747808191b5d98eaa8c387e2b</a:t>
            </a:r>
          </a:p>
          <a:p/>
          <a:p>
            <a:r>
              <a:t>λroom/pathは両.01/.01、room.01/0、path0/.01、なし0/0。同じcontrastive dump、seed0、4秒、paired batch2=4波形、479788 params。validationはprimary view、対照損失を含めずvalid.loss_sweep。今回RIR推定の数値はLS参照の確定testのみを掲載する方針で、途中validの数値は含めない。状況は10/15の元レポート確認時点で、現在ジョブを再照会したものではない。</a:t>
            </a:r>
          </a:p>
          <a:p/>
          <a:p>
            <a:r>
              <a:t>https://linear.app/nitsu22/issue/DAI-68</a:t>
            </a:r>
          </a:p>
          <a:p>
            <a:r>
              <a:t>https://linear.app/nitsu22/issue/DAI-65</a:t>
            </a:r>
          </a:p>
          <a:p>
            <a:r>
              <a:t>https://linear.app/nitsu22/issue/DAI-66</a:t>
            </a:r>
          </a:p>
          <a:p>
            <a:r>
              <a:t>https://linear.app/nitsu22/issue/DAI-67</a:t>
            </a:r>
          </a:p>
          <a:p>
            <a:r>
              <a:t>https://linear.app/nitsu22/issue/DAI-74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元レポート：https://chatgpt.com/space/page_7274532747808191b5d98eaa8c387e2b</a:t>
            </a:r>
          </a:p>
          <a:p/>
          <a:p>
            <a:r>
              <a:t>軽量CTFモデルのLS参照性能、CTF条件付け、DAMSEPの結果を整理。固定BiMamba条件付きSの採点は元レポート10/15 14:08時点で結果待ち。room/path4条件は学習終了後LS参照のみで比較。DAMSEPは2損失対3損失でCTF項の寄与を確認。新しい分離器の結果はこのデッキの対象外。</a:t>
            </a:r>
          </a:p>
          <a:p/>
          <a:p>
            <a:r>
              <a:t>https://linear.app/nitsu22/issue/DAI-28</a:t>
            </a:r>
          </a:p>
          <a:p>
            <a:r>
              <a:t>https://linear.app/nitsu22/issue/DAI-68</a:t>
            </a:r>
          </a:p>
          <a:p>
            <a:r>
              <a:t>https://linear.app/nitsu22/issue/DAI-61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hatgpt.com/space/page_7274532747808191b5d98eaa8c387e2b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hatgpt.com/space/page_7274532747808191b5d98eaa8c387e2b" TargetMode="Externa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hatgpt.com/space/page_7274532747808191b5d98eaa8c387e2b" TargetMode="Externa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hatgpt.com/space/page_7274532747808191b5d98eaa8c387e2b" TargetMode="Externa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hatgpt.com/space/page_7274532747808191b5d98eaa8c387e2b" TargetMode="Externa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hatgpt.com/space/page_7274532747808191b5d98eaa8c387e2b" TargetMode="Externa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hatgpt.com/space/page_7274532747808191b5d98eaa8c387e2b" TargetMode="Externa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3000" b="1">
                <a:solidFill>
                  <a:srgbClr val="203C54"/>
                </a:solidFill>
                <a:latin typeface="Noto Sans CJK JP"/>
                <a:ea typeface="Noto Sans CJK JP"/>
              </a:rPr>
              <a:t>RIR/CTF推定と音声分離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9576"/>
            <a:ext cx="10972800" cy="1097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399032"/>
            <a:ext cx="10881360" cy="512064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Noto Sans CJK JP"/>
                <a:ea typeface="Noto Sans CJK JP"/>
              </a:rPr>
              <a:t>研究進捗  /  2026年10月15日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81928"/>
            <a:ext cx="10972800" cy="1097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428232"/>
            <a:ext cx="9464040" cy="201168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0">
                <a:solidFill>
                  <a:srgbClr val="666666"/>
                </a:solidFill>
                <a:latin typeface="Noto Sans CJK JP"/>
                <a:ea typeface="Noto Sans CJK JP"/>
              </a:rPr>
              <a:t>出典：Linear実験進捗レポート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6409944"/>
            <a:ext cx="1033271" cy="22860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203C54"/>
                </a:solidFill>
                <a:latin typeface="Noto Sans CJK JP"/>
                <a:ea typeface="Noto Sans CJK JP"/>
                <a:hlinkClick r:id="rId2"/>
              </a:rPr>
              <a:t>詳細レポート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19088"/>
            <a:ext cx="502920" cy="22860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Noto Sans CJK JP"/>
                <a:ea typeface="Noto Sans CJK JP"/>
              </a:rPr>
              <a:t>1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76856"/>
            <a:ext cx="10607040" cy="530352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2700" b="1">
                <a:solidFill>
                  <a:srgbClr val="222222"/>
                </a:solidFill>
                <a:latin typeface="Noto Sans CJK JP"/>
                <a:ea typeface="Noto Sans CJK JP"/>
              </a:rPr>
              <a:t>1.  RIR推定の性能比較（LS参照）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27832"/>
            <a:ext cx="10607040" cy="530352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2700" b="1">
                <a:solidFill>
                  <a:srgbClr val="222222"/>
                </a:solidFill>
                <a:latin typeface="Noto Sans CJK JP"/>
                <a:ea typeface="Noto Sans CJK JP"/>
              </a:rPr>
              <a:t>2.  推定CTFを使った音声分離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78808"/>
            <a:ext cx="10607040" cy="530352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2700" b="1">
                <a:solidFill>
                  <a:srgbClr val="222222"/>
                </a:solidFill>
                <a:latin typeface="Noto Sans CJK JP"/>
                <a:ea typeface="Noto Sans CJK JP"/>
              </a:rPr>
              <a:t>3.  DAMSEPと進行中の比較実験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5522976"/>
            <a:ext cx="10515600" cy="393192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0">
                <a:solidFill>
                  <a:srgbClr val="666666"/>
                </a:solidFill>
                <a:latin typeface="Noto Sans CJK JP"/>
                <a:ea typeface="Noto Sans CJK JP"/>
              </a:rPr>
              <a:t>RIR評価：RMSE・相関・DRR・RT60・C50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3000" b="1">
                <a:solidFill>
                  <a:srgbClr val="203C54"/>
                </a:solidFill>
                <a:latin typeface="Noto Sans CJK JP"/>
                <a:ea typeface="Noto Sans CJK JP"/>
              </a:rPr>
              <a:t>RIR推定の基準性能（LS参照）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9576"/>
            <a:ext cx="10972800" cy="1097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399032"/>
            <a:ext cx="10881360" cy="512064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Noto Sans CJK JP"/>
                <a:ea typeface="Noto Sans CJK JP"/>
              </a:rPr>
              <a:t>test 3,000混合・6,000 RIR  /  RMSE ↓・相関 ↑  /  DRR・RT60・C50はMAE ↓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81928"/>
            <a:ext cx="10972800" cy="1097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428232"/>
            <a:ext cx="9464040" cy="201168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0">
                <a:solidFill>
                  <a:srgbClr val="666666"/>
                </a:solidFill>
                <a:latin typeface="Noto Sans CJK JP"/>
                <a:ea typeface="Noto Sans CJK JP"/>
              </a:rPr>
              <a:t>出典：DAI-10 / DAI-38 / DAI-45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6409944"/>
            <a:ext cx="1033271" cy="22860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203C54"/>
                </a:solidFill>
                <a:latin typeface="Noto Sans CJK JP"/>
                <a:ea typeface="Noto Sans CJK JP"/>
                <a:hlinkClick r:id="rId2"/>
              </a:rPr>
              <a:t>詳細レポート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19088"/>
            <a:ext cx="502920" cy="22860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Noto Sans CJK JP"/>
                <a:ea typeface="Noto Sans CJK JP"/>
              </a:rPr>
              <a:t>2 / 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2167128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645920"/>
                <a:gridCol w="1280160"/>
                <a:gridCol w="1554480"/>
                <a:gridCol w="1554480"/>
                <a:gridCol w="1554480"/>
              </a:tblGrid>
              <a:tr h="6858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モデル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RMSE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相関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DRR [dB]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RT60 [s]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C50 [dB]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Rec-RIR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0.001085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0.9862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0.9608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0.0628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0.8942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TF-Locoformer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0.001503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0.9756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1.4794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0.0783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1.6929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BiMamba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0.001411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0.9787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1.0763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0.0654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1.1028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257800"/>
            <a:ext cx="10789920" cy="393192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666666"/>
                </a:solidFill>
                <a:latin typeface="Noto Sans CJK JP"/>
                <a:ea typeface="Noto Sans CJK JP"/>
              </a:rPr>
              <a:t>パラメータ数：Rec-RIR 3.15M / TF-Locoformer 2.60M / BiMamba 0.46M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789920" cy="338328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222222"/>
                </a:solidFill>
                <a:latin typeface="Noto Sans CJK JP"/>
                <a:ea typeface="Noto Sans CJK JP"/>
              </a:rPr>
              <a:t>BiMambaはTF-Locoformerより小型で、掲載したLS評価指標も良好。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3000" b="1">
                <a:solidFill>
                  <a:srgbClr val="203C54"/>
                </a:solidFill>
                <a:latin typeface="Noto Sans CJK JP"/>
                <a:ea typeface="Noto Sans CJK JP"/>
              </a:rPr>
              <a:t>BiMambaの構成比較（LS参照）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9576"/>
            <a:ext cx="10972800" cy="1097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399032"/>
            <a:ext cx="10881360" cy="512064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Noto Sans CJK JP"/>
                <a:ea typeface="Noto Sans CJK JP"/>
              </a:rPr>
              <a:t>同じ固定LS参照で評価  /  DRR・RT60・C50は相対フィルタのMAE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81928"/>
            <a:ext cx="10972800" cy="1097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428232"/>
            <a:ext cx="9464040" cy="201168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0">
                <a:solidFill>
                  <a:srgbClr val="666666"/>
                </a:solidFill>
                <a:latin typeface="Noto Sans CJK JP"/>
                <a:ea typeface="Noto Sans CJK JP"/>
              </a:rPr>
              <a:t>出典：DAI-45 / DAI-49 / DAI-50 / DAI-54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6409944"/>
            <a:ext cx="1033271" cy="22860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203C54"/>
                </a:solidFill>
                <a:latin typeface="Noto Sans CJK JP"/>
                <a:ea typeface="Noto Sans CJK JP"/>
                <a:hlinkClick r:id="rId2"/>
              </a:rPr>
              <a:t>詳細レポート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19088"/>
            <a:ext cx="502920" cy="22860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Noto Sans CJK JP"/>
                <a:ea typeface="Noto Sans CJK JP"/>
              </a:rPr>
              <a:t>3 / 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201168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645920"/>
                <a:gridCol w="1280160"/>
                <a:gridCol w="1554480"/>
                <a:gridCol w="1554480"/>
                <a:gridCol w="1554480"/>
              </a:tblGrid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構成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RMSE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相関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DRR [dB]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RT60 [s]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C50 [dB]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BiMamba 基準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0.001411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0.9787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1.0763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0.0654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1.1028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前段2＋後段2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0.001708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0.9678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1.5720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0.0726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1.4014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後段周波数BiMamba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0.001356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0.9803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1.0054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0.0670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1.0068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前後周波数BiMamba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0.001220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0.9842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1.0836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0.0672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1.1201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時間局所Attention125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0.001366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0.9800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1.0705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0.0706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1.0459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303520"/>
            <a:ext cx="10789920" cy="347472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222222"/>
                </a:solidFill>
                <a:latin typeface="Noto Sans CJK JP"/>
                <a:ea typeface="Noto Sans CJK JP"/>
              </a:rPr>
              <a:t>波形RMSE・相関：前後BiMambaが改善。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79008"/>
            <a:ext cx="10789920" cy="347472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  <a:ea typeface="Noto Sans CJK JP"/>
              </a:rPr>
              <a:t>DRR・C50：後段BiMambaが良好。RT60は基準が最小。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3000" b="1">
                <a:solidFill>
                  <a:srgbClr val="203C54"/>
                </a:solidFill>
                <a:latin typeface="Noto Sans CJK JP"/>
                <a:ea typeface="Noto Sans CJK JP"/>
              </a:rPr>
              <a:t>推定CTFによる音声分離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9576"/>
            <a:ext cx="10972800" cy="1097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399032"/>
            <a:ext cx="10881360" cy="512064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Noto Sans CJK JP"/>
                <a:ea typeface="Noto Sans CJK JP"/>
              </a:rPr>
              <a:t>過去のenh_rir系列  /  test SI-SNR [dB]  /  FiLMとcross-attentionで条件付け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81928"/>
            <a:ext cx="10972800" cy="1097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428232"/>
            <a:ext cx="9464040" cy="201168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0">
                <a:solidFill>
                  <a:srgbClr val="666666"/>
                </a:solidFill>
                <a:latin typeface="Noto Sans CJK JP"/>
                <a:ea typeface="Noto Sans CJK JP"/>
              </a:rPr>
              <a:t>出典：DAI-17 / DAI-19 / DAI-20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6409944"/>
            <a:ext cx="1033271" cy="22860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203C54"/>
                </a:solidFill>
                <a:latin typeface="Noto Sans CJK JP"/>
                <a:ea typeface="Noto Sans CJK JP"/>
                <a:hlinkClick r:id="rId2"/>
              </a:rPr>
              <a:t>詳細レポート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19088"/>
            <a:ext cx="502920" cy="22860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Noto Sans CJK JP"/>
                <a:ea typeface="Noto Sans CJK JP"/>
              </a:rPr>
              <a:t>4 / 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2395728"/>
          <a:ext cx="9811512" cy="224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2743200"/>
                <a:gridCol w="2221992"/>
              </a:tblGrid>
              <a:tr h="7498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分離器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Baseline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推定CTF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差 [dB]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3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S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3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17.58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3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18.14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3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＋0.56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3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M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3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20.132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3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20.068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3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−0.064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102352"/>
            <a:ext cx="10789920" cy="438912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2200" b="1">
                <a:solidFill>
                  <a:srgbClr val="222222"/>
                </a:solidFill>
                <a:latin typeface="Noto Sans CJK JP"/>
                <a:ea typeface="Noto Sans CJK JP"/>
              </a:rPr>
              <a:t>SではSI-SNRが改善。MではSI-SNRの改善は確認できなかった。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05856"/>
            <a:ext cx="10789920" cy="402336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900" b="0">
                <a:solidFill>
                  <a:srgbClr val="666666"/>
                </a:solidFill>
                <a:latin typeface="Noto Sans CJK JP"/>
                <a:ea typeface="Noto Sans CJK JP"/>
              </a:rPr>
              <a:t>MのSDRは＋0.366 dB。SとMは初期化・学習条件も異なる。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3000" b="1">
                <a:solidFill>
                  <a:srgbClr val="203C54"/>
                </a:solidFill>
                <a:latin typeface="Noto Sans CJK JP"/>
                <a:ea typeface="Noto Sans CJK JP"/>
              </a:rPr>
              <a:t>DAMSEPの損失比較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9576"/>
            <a:ext cx="10972800" cy="1097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399032"/>
            <a:ext cx="10881360" cy="512064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Noto Sans CJK JP"/>
                <a:ea typeface="Noto Sans CJK JP"/>
              </a:rPr>
              <a:t>NF-WHAMR 8 kHz  /  test 3,000件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81928"/>
            <a:ext cx="10972800" cy="1097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428232"/>
            <a:ext cx="9464040" cy="201168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0">
                <a:solidFill>
                  <a:srgbClr val="666666"/>
                </a:solidFill>
                <a:latin typeface="Noto Sans CJK JP"/>
                <a:ea typeface="Noto Sans CJK JP"/>
              </a:rPr>
              <a:t>出典：DAI-9 / DAI-21 / DAI-41 / DAI-61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6409944"/>
            <a:ext cx="1033271" cy="22860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203C54"/>
                </a:solidFill>
                <a:latin typeface="Noto Sans CJK JP"/>
                <a:ea typeface="Noto Sans CJK JP"/>
                <a:hlinkClick r:id="rId2"/>
              </a:rPr>
              <a:t>詳細レポート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19088"/>
            <a:ext cx="502920" cy="22860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Noto Sans CJK JP"/>
                <a:ea typeface="Noto Sans CJK JP"/>
              </a:rPr>
              <a:t>5 / 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2395728"/>
          <a:ext cx="9811512" cy="224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  <a:gridCol w="2496312"/>
              </a:tblGrid>
              <a:tr h="7498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損失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SI-SNR [dB]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SDR [dB]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3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cleanのみ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3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11.19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3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12.71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3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3損失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3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13.50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3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14.76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029200"/>
            <a:ext cx="10789920" cy="402336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2300" b="1">
                <a:solidFill>
                  <a:srgbClr val="222222"/>
                </a:solidFill>
                <a:latin typeface="Noto Sans CJK JP"/>
                <a:ea typeface="Noto Sans CJK JP"/>
              </a:rPr>
              <a:t>補助損失群を加えた実験がSI-SNRで＋2.31 dB。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789920" cy="402336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2200" b="0">
                <a:solidFill>
                  <a:srgbClr val="222222"/>
                </a:solidFill>
                <a:latin typeface="Noto Sans CJK JP"/>
                <a:ea typeface="Noto Sans CJK JP"/>
              </a:rPr>
              <a:t>CTF再構成項の寄与は、2損失との比較で切り分ける。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3000" b="1">
                <a:solidFill>
                  <a:srgbClr val="203C54"/>
                </a:solidFill>
                <a:latin typeface="Noto Sans CJK JP"/>
                <a:ea typeface="Noto Sans CJK JP"/>
              </a:rPr>
              <a:t>room/path対照学習の比較条件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9576"/>
            <a:ext cx="10972800" cy="1097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399032"/>
            <a:ext cx="10881360" cy="512064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Noto Sans CJK JP"/>
                <a:ea typeface="Noto Sans CJK JP"/>
              </a:rPr>
              <a:t>同じ追加データ・学習条件で、対照損失の有無を比較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81928"/>
            <a:ext cx="10972800" cy="1097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428232"/>
            <a:ext cx="9464040" cy="201168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0">
                <a:solidFill>
                  <a:srgbClr val="666666"/>
                </a:solidFill>
                <a:latin typeface="Noto Sans CJK JP"/>
                <a:ea typeface="Noto Sans CJK JP"/>
              </a:rPr>
              <a:t>出典：DAI-68 / DAI-65 / DAI-66 / DAI-67 / DAI-74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6409944"/>
            <a:ext cx="1033271" cy="22860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203C54"/>
                </a:solidFill>
                <a:latin typeface="Noto Sans CJK JP"/>
                <a:ea typeface="Noto Sans CJK JP"/>
                <a:hlinkClick r:id="rId2"/>
              </a:rPr>
              <a:t>詳細レポート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19088"/>
            <a:ext cx="502920" cy="22860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Noto Sans CJK JP"/>
                <a:ea typeface="Noto Sans CJK JP"/>
              </a:rPr>
              <a:t>6 / 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2121408"/>
          <a:ext cx="9811512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2496312"/>
              </a:tblGrid>
              <a:tr h="5577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対照損失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λroom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λpath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LS評価</a:t>
                      </a:r>
                    </a:p>
                  </a:txBody>
                  <a:tcPr anchor="ctr" marL="91440" marR="91440" marT="36576" marB="36576">
                    <a:solidFill>
                      <a:srgbClr val="EEEEE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room ＋ path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0.01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0.01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結果未確定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roomのみ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0.01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結果未確定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pathのみ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0.01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結果未確定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なし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Noto Sans CJK JP"/>
                          <a:ea typeface="Noto Sans CJK JP"/>
                        </a:rPr>
                        <a:t>結果未確定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404104"/>
            <a:ext cx="10789920" cy="420624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2200" b="1">
                <a:solidFill>
                  <a:srgbClr val="222222"/>
                </a:solidFill>
                <a:latin typeface="Noto Sans CJK JP"/>
                <a:ea typeface="Noto Sans CJK JP"/>
              </a:rPr>
              <a:t>学習終了後、同じLS参照・checkpoint選択方法で比較する。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88736"/>
            <a:ext cx="10789920" cy="292608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666666"/>
                </a:solidFill>
                <a:latin typeface="Noto Sans CJK JP"/>
                <a:ea typeface="Noto Sans CJK JP"/>
              </a:rPr>
              <a:t>比較指標：RMSE・相関・DRR・RT60・C50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3000" b="1">
                <a:solidFill>
                  <a:srgbClr val="203C54"/>
                </a:solidFill>
                <a:latin typeface="Noto Sans CJK JP"/>
                <a:ea typeface="Noto Sans CJK JP"/>
              </a:rPr>
              <a:t>まとめと次の比較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9576"/>
            <a:ext cx="10972800" cy="1097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399032"/>
            <a:ext cx="10881360" cy="512064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666666"/>
                </a:solidFill>
                <a:latin typeface="Noto Sans CJK JP"/>
                <a:ea typeface="Noto Sans CJK JP"/>
              </a:rPr>
              <a:t>RIR推定はLS参照に統一して、指標ごとの変化を見る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81928"/>
            <a:ext cx="10972800" cy="10972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428232"/>
            <a:ext cx="9464040" cy="201168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0">
                <a:solidFill>
                  <a:srgbClr val="666666"/>
                </a:solidFill>
                <a:latin typeface="Noto Sans CJK JP"/>
                <a:ea typeface="Noto Sans CJK JP"/>
              </a:rPr>
              <a:t>出典：DAI-28 / DAI-68 / DAI-61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6409944"/>
            <a:ext cx="1033271" cy="22860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203C54"/>
                </a:solidFill>
                <a:latin typeface="Noto Sans CJK JP"/>
                <a:ea typeface="Noto Sans CJK JP"/>
                <a:hlinkClick r:id="rId2"/>
              </a:rPr>
              <a:t>詳細レポート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19088"/>
            <a:ext cx="502920" cy="22860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Noto Sans CJK JP"/>
                <a:ea typeface="Noto Sans CJK JP"/>
              </a:rPr>
              <a:t>7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10698480" cy="41148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Noto Sans CJK JP"/>
                <a:ea typeface="Noto Sans CJK JP"/>
              </a:rPr>
              <a:t>1. 固定BiMamba条件付きS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697480"/>
            <a:ext cx="10241280" cy="402336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2100" b="0">
                <a:solidFill>
                  <a:srgbClr val="222222"/>
                </a:solidFill>
                <a:latin typeface="Noto Sans CJK JP"/>
                <a:ea typeface="Noto Sans CJK JP"/>
              </a:rPr>
              <a:t>採点結果を確定し、同条件のBaselineと比較する。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74136"/>
            <a:ext cx="10698480" cy="41148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Noto Sans CJK JP"/>
                <a:ea typeface="Noto Sans CJK JP"/>
              </a:rPr>
              <a:t>2. room/pathの4条件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922776"/>
            <a:ext cx="10241280" cy="402336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2100" b="0">
                <a:solidFill>
                  <a:srgbClr val="222222"/>
                </a:solidFill>
                <a:latin typeface="Noto Sans CJK JP"/>
                <a:ea typeface="Noto Sans CJK JP"/>
              </a:rPr>
              <a:t>LS参照の全指標を同じ条件で比較する。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99432"/>
            <a:ext cx="10698480" cy="411480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Noto Sans CJK JP"/>
                <a:ea typeface="Noto Sans CJK JP"/>
              </a:rPr>
              <a:t>3. DAMSEPの2損失と3損失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5148072"/>
            <a:ext cx="10241280" cy="402336"/>
          </a:xfrm>
          <a:prstGeom prst="rect">
            <a:avLst/>
          </a:prstGeom>
          <a:noFill/>
        </p:spPr>
        <p:txBody>
          <a:bodyPr wrap="square" tIns="0" bIns="0" lIns="9144" rIns="9144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2100" b="0">
                <a:solidFill>
                  <a:srgbClr val="222222"/>
                </a:solidFill>
                <a:latin typeface="Noto Sans CJK JP"/>
                <a:ea typeface="Noto Sans CJK JP"/>
              </a:rPr>
              <a:t>CTF再構成項と除残響構造の寄与を切り分ける。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RIR/CTF推定と音声分離 研究進捗 2026年10月15日</dc:title>
  <dc:subject>LS参照のRIR評価と音声分離実験</dc:subject>
  <dc:creator>Daichi Nitsu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
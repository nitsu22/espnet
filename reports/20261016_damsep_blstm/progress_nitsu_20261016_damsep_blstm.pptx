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PDjuTLT1/Z/lH1LkHQURQLaHX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7857EC-8D50-4316-8B8B-107264D61117}">
  <a:tblStyle styleId="{3F7857EC-8D50-4316-8B8B-107264D6111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422BEC9-E013-45ED-BE18-4B41DF18F57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Original Figure 1 from Wen et al., DAMSEP, arXiv:2609.29749v2, PDF page 2. Figure labels and content are unchanged; surrounding paper text is cropped. Joint clean/reverberant source supervision and CTF-based reconstruction are used. Near/far is ordinal, not an absolute distance estimate.</a:t>
            </a:r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fbc2b36df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Paper-reported results, not local NF-WHAMR/LS experiments. Full source separation Table 1 reproduced as an editable table. RIR Table 2 excerpt shows Rec-RIR and DAMSEP only. Rec-RIR fidelity metrics use ground-truth individual reverberant signals, while DAMSEP always receives the mixture. DAMSEP distance-ordering accuracy 99.11% is from Table 2. RT60 error is not reported in this table.</a:t>
            </a:r>
          </a:p>
        </p:txBody>
      </p:sp>
      <p:sp>
        <p:nvSpPr>
          <p:cNvPr id="104" name="Google Shape;104;g3cfbc2b36df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86e652ced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Implementation: espnet2/rir/rec_rir/pooled_bimamba.py, TimeBiLSTM and PooledBiMambaCTFPredictor. Configuration: egs2/whamr/rir_2spk/conf/tuning/train_pooled_bimamba_2spk_nf_16k_sweep_v2_bilstm.yaml. STFT complex RI channels -&gt; 3x3 Conv2D (2 -&gt; 64). Four pre-blocks alternate TimeBiLSTM and LightFrequencyBlock. LightFrequencyBlock: depthwise frequency kernel 5 plus low-rank frequency MLP, bottleneck/rank 16. Time pooling uses channel-wise speaker-specific weights normalized across time; speaker-slot embeddings are added. Two post-pooling shared frequency attention/ConvFFN blocks; attention 4 heads, FFN 128. Shared head: LayerNorm -&gt; Linear 64/128 -&gt; SiLU -&gt; Linear 128/120 -&gt; complex reshape [B,2,257,60]. Head does not produce separated speech. Optional subsequent fixed Sweep/PIM conversion to RIR is outside this simplified diagram.</a:t>
            </a:r>
          </a:p>
        </p:txBody>
      </p:sp>
      <p:sp>
        <p:nvSpPr>
          <p:cNvPr id="121" name="Google Shape;121;g3f86e652ced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7a0e24568b_0_10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27a0e24568b_0_10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g27a0e24568b_0_10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arxiv.org/html/2609.29749v2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html/2609.29749v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fbc2b36df_0_173"/>
          <p:cNvSpPr txBox="1"/>
          <p:nvPr>
            <p:ph type="title"/>
          </p:nvPr>
        </p:nvSpPr>
        <p:spPr>
          <a:xfrm>
            <a:off x="278025" y="292725"/>
            <a:ext cx="114300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600" b="0">
                <a:solidFill>
                  <a:srgbClr val="000000"/>
                </a:solidFill>
                <a:latin typeface="Arial"/>
              </a:rPr>
              <a:t>DAMSEP</a:t>
            </a:r>
            <a:endParaRPr sz="3600"/>
          </a:p>
        </p:txBody>
      </p:sp>
      <p:sp>
        <p:nvSpPr>
          <p:cNvPr id="107" name="TextBox 106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888888"/>
                </a:solidFill>
                <a:latin typeface="Arial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5216" y="1243584"/>
            <a:ext cx="10972800" cy="7132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Distance-Aware Monaural Source Separation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000000"/>
                </a:solidFill>
                <a:latin typeface="Arial"/>
              </a:rPr>
              <a:t>using Multi-RIR Estimation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5216" y="1956816"/>
            <a:ext cx="10972800" cy="3017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Wen Wen et al., arXiv:2609.29749v2 (2026)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5216" y="2359152"/>
            <a:ext cx="109728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Jointly estimates clean sources and source-specific RIRs from a monaural mixture.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DRR of each estimated RIR determines the relative near/far order.</a:t>
            </a:r>
          </a:p>
        </p:txBody>
      </p:sp>
      <p:pic>
        <p:nvPicPr>
          <p:cNvPr id="111" name="Picture 110" descr="damsep-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63240"/>
            <a:ext cx="11155680" cy="3258235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530352" y="6309360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Arial"/>
                <a:hlinkClick r:id="rId4"/>
              </a:rPr>
              <a:t>Source: Wen et al., arXiv:2609.29749v2, Fig. 1 (cropped from the paper).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fbc2b36df_0_173"/>
          <p:cNvSpPr txBox="1"/>
          <p:nvPr>
            <p:ph type="title"/>
          </p:nvPr>
        </p:nvSpPr>
        <p:spPr>
          <a:xfrm>
            <a:off x="278025" y="292725"/>
            <a:ext cx="114300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600" b="0">
                <a:solidFill>
                  <a:srgbClr val="000000"/>
                </a:solidFill>
                <a:latin typeface="Arial"/>
              </a:rPr>
              <a:t>DAMSEP: Results</a:t>
            </a:r>
            <a:endParaRPr sz="3600"/>
          </a:p>
        </p:txBody>
      </p:sp>
      <p:sp>
        <p:nvSpPr>
          <p:cNvPr id="107" name="TextBox 106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888888"/>
                </a:solidFill>
                <a:latin typeface="Arial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5216" y="1234440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HETMIXR: 2-source mixtures, 8 kHz, 2,801 test mixtures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5216" y="1709928"/>
            <a:ext cx="10972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Source separation (dB, higher is better)</a:t>
            </a:r>
          </a:p>
        </p:txBody>
      </p: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621792" y="2093976"/>
          <a:ext cx="109270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43000"/>
                <a:gridCol w="1828800"/>
                <a:gridCol w="164592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R="36576" marT="27432" marB="27432" anchor="ctr">
                    <a:solidFill>
                      <a:srgbClr val="CFE2F3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Params</a:t>
                      </a:r>
                    </a:p>
                  </a:txBody>
                  <a:tcPr marL="73152" marR="36576" marT="27432" marB="27432" anchor="ctr">
                    <a:solidFill>
                      <a:srgbClr val="CFE2F3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SI-SDRi ↑</a:t>
                      </a:r>
                    </a:p>
                  </a:txBody>
                  <a:tcPr marL="73152" marR="36576" marT="27432" marB="27432" anchor="ctr">
                    <a:solidFill>
                      <a:srgbClr val="CFE2F3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SDRi ↑</a:t>
                      </a:r>
                    </a:p>
                  </a:txBody>
                  <a:tcPr marL="73152" marR="36576" marT="27432" marB="27432" anchor="ctr">
                    <a:solidFill>
                      <a:srgbClr val="CFE2F3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SIR ↑</a:t>
                      </a:r>
                    </a:p>
                  </a:txBody>
                  <a:tcPr marL="73152" marR="36576" marT="27432" marB="27432" anchor="ctr">
                    <a:solidFill>
                      <a:srgbClr val="CFE2F3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SAR ↑</a:t>
                      </a:r>
                    </a:p>
                  </a:txBody>
                  <a:tcPr marL="73152" marR="36576" marT="27432" marB="27432" anchor="ctr">
                    <a:solidFill>
                      <a:srgbClr val="CFE2F3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TDANet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2.3M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8.08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7.94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17.95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9.33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SPMamba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6.1M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13.06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11.68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22.28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12.48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TF-Locoformer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15M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14.25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12.67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22.50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13.51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DAMSEP</a:t>
                      </a:r>
                    </a:p>
                  </a:txBody>
                  <a:tcPr marL="73152" marR="36576" marT="27432" marB="27432" anchor="ctr">
                    <a:solidFill>
                      <a:srgbClr val="F4F7FA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7.2M</a:t>
                      </a:r>
                    </a:p>
                  </a:txBody>
                  <a:tcPr marL="73152" marR="36576" marT="27432" marB="27432" anchor="ctr">
                    <a:solidFill>
                      <a:srgbClr val="F4F7FA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14.90</a:t>
                      </a:r>
                    </a:p>
                  </a:txBody>
                  <a:tcPr marL="73152" marR="36576" marT="27432" marB="27432" anchor="ctr">
                    <a:solidFill>
                      <a:srgbClr val="F4F7FA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13.24</a:t>
                      </a:r>
                    </a:p>
                  </a:txBody>
                  <a:tcPr marL="73152" marR="36576" marT="27432" marB="27432" anchor="ctr">
                    <a:solidFill>
                      <a:srgbClr val="F4F7FA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24.29</a:t>
                      </a:r>
                    </a:p>
                  </a:txBody>
                  <a:tcPr marL="73152" marR="36576" marT="27432" marB="27432" anchor="ctr">
                    <a:solidFill>
                      <a:srgbClr val="F4F7FA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13.91</a:t>
                      </a:r>
                    </a:p>
                  </a:txBody>
                  <a:tcPr marL="73152" marR="36576" marT="27432" marB="27432" anchor="ctr">
                    <a:solidFill>
                      <a:srgbClr val="F4F7FA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1" name="TextBox 110"/>
          <p:cNvSpPr txBox="1"/>
          <p:nvPr/>
        </p:nvSpPr>
        <p:spPr>
          <a:xfrm>
            <a:off x="585216" y="3931920"/>
            <a:ext cx="10972800" cy="3383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RIR estimation (lower is better; selected baseline)</a:t>
            </a:r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621792" y="4352544"/>
          <a:ext cx="10927080" cy="106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508760"/>
                <a:gridCol w="1645920"/>
                <a:gridCol w="2377440"/>
                <a:gridCol w="2377440"/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R="36576" marT="27432" marB="27432" anchor="ctr">
                    <a:solidFill>
                      <a:srgbClr val="CFE2F3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RIR-50</a:t>
                      </a:r>
                    </a:p>
                  </a:txBody>
                  <a:tcPr marL="73152" marR="36576" marT="27432" marB="27432" anchor="ctr">
                    <a:solidFill>
                      <a:srgbClr val="CFE2F3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LSD (dB)</a:t>
                      </a:r>
                    </a:p>
                  </a:txBody>
                  <a:tcPr marL="73152" marR="36576" marT="27432" marB="27432" anchor="ctr">
                    <a:solidFill>
                      <a:srgbClr val="CFE2F3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DRR MAE (dB)</a:t>
                      </a:r>
                    </a:p>
                  </a:txBody>
                  <a:tcPr marL="73152" marR="36576" marT="27432" marB="27432" anchor="ctr">
                    <a:solidFill>
                      <a:srgbClr val="CFE2F3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C50 MAE (dB)</a:t>
                      </a:r>
                    </a:p>
                  </a:txBody>
                  <a:tcPr marL="73152" marR="36576" marT="27432" marB="27432" anchor="ctr">
                    <a:solidFill>
                      <a:srgbClr val="CFE2F3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Rec-RIR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0.051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3.58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5.85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</a:rPr>
                        <a:t>11.07</a:t>
                      </a:r>
                    </a:p>
                  </a:txBody>
                  <a:tcPr marL="73152" marR="36576" marT="27432" marB="27432" anchor="ctr">
                    <a:solidFill>
                      <a:srgbClr val="FFFFFF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DAMSEP</a:t>
                      </a:r>
                    </a:p>
                  </a:txBody>
                  <a:tcPr marL="73152" marR="36576" marT="27432" marB="27432" anchor="ctr">
                    <a:solidFill>
                      <a:srgbClr val="F4F7FA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0.032</a:t>
                      </a:r>
                    </a:p>
                  </a:txBody>
                  <a:tcPr marL="73152" marR="36576" marT="27432" marB="27432" anchor="ctr">
                    <a:solidFill>
                      <a:srgbClr val="F4F7FA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1.84</a:t>
                      </a:r>
                    </a:p>
                  </a:txBody>
                  <a:tcPr marL="73152" marR="36576" marT="27432" marB="27432" anchor="ctr">
                    <a:solidFill>
                      <a:srgbClr val="F4F7FA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2.58</a:t>
                      </a:r>
                    </a:p>
                  </a:txBody>
                  <a:tcPr marL="73152" marR="36576" marT="27432" marB="27432" anchor="ctr">
                    <a:solidFill>
                      <a:srgbClr val="F4F7FA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</a:rPr>
                        <a:t>6.38</a:t>
                      </a:r>
                    </a:p>
                  </a:txBody>
                  <a:tcPr marL="73152" marR="36576" marT="27432" marB="27432" anchor="ctr">
                    <a:solidFill>
                      <a:srgbClr val="F4F7FA"/>
                    </a:solidFill>
                    <a:lnL w="6350">
                      <a:solidFill>
                        <a:srgbClr val="D0D6DE"/>
                      </a:solidFill>
                    </a:lnL>
                    <a:lnR w="6350">
                      <a:solidFill>
                        <a:srgbClr val="D0D6DE"/>
                      </a:solidFill>
                    </a:lnR>
                    <a:lnT w="6350">
                      <a:solidFill>
                        <a:srgbClr val="D0D6DE"/>
                      </a:solidFill>
                    </a:lnT>
                    <a:lnB w="6350">
                      <a:solidFill>
                        <a:srgbClr val="D0D6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3" name="TextBox 112"/>
          <p:cNvSpPr txBox="1"/>
          <p:nvPr/>
        </p:nvSpPr>
        <p:spPr>
          <a:xfrm>
            <a:off x="585216" y="553212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Near/far accuracy: 99.11%  |  SI-SDRi: +0.65 dB vs. TF-Locoformer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85216" y="5934456"/>
            <a:ext cx="10972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555555"/>
                </a:solidFill>
                <a:latin typeface="Arial"/>
              </a:rPr>
              <a:t>RIR-50: first-50-ms RMSE. Rec-RIR uses oracle single-source inputs; DAMSEP uses mixtures.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0352" y="6309360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Arial"/>
                <a:hlinkClick r:id="rId3"/>
              </a:rPr>
              <a:t>Source: Wen et al., arXiv:2609.29749v2, Tables 1–2.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fbc2b36df_0_173"/>
          <p:cNvSpPr txBox="1"/>
          <p:nvPr>
            <p:ph type="title"/>
          </p:nvPr>
        </p:nvSpPr>
        <p:spPr>
          <a:xfrm>
            <a:off x="278025" y="292725"/>
            <a:ext cx="11430000" cy="8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600" b="0">
                <a:solidFill>
                  <a:srgbClr val="000000"/>
                </a:solidFill>
                <a:latin typeface="Arial"/>
              </a:rPr>
              <a:t>BLSTM-based CTF Estimator</a:t>
            </a:r>
            <a:endParaRPr sz="3600"/>
          </a:p>
        </p:txBody>
      </p:sp>
      <p:sp>
        <p:nvSpPr>
          <p:cNvPr id="123" name="TextBox 122"/>
          <p:cNvSpPr txBox="1"/>
          <p:nvPr/>
        </p:nvSpPr>
        <p:spPr>
          <a:xfrm>
            <a:off x="8610904" y="6355994"/>
            <a:ext cx="2743200" cy="364845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888888"/>
                </a:solidFill>
                <a:latin typeface="Arial"/>
              </a:rPr>
              <a:t>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85216" y="1252728"/>
            <a:ext cx="109728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Time-BiLSTM variant used in the previous CTF estimator comparison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Input: monaural mixture (16 kHz)     Output: two source-specific complex CTFs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30352" y="2542032"/>
            <a:ext cx="1609344" cy="1234440"/>
          </a:xfrm>
          <a:prstGeom prst="roundRect">
            <a:avLst>
              <a:gd name="adj" fmla="val 10000"/>
            </a:avLst>
          </a:prstGeom>
          <a:solidFill>
            <a:srgbClr val="CFE2F3"/>
          </a:solidFill>
          <a:ln w="2159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STFT</a:t>
            </a:r>
          </a:p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+ Conv2D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2139696" y="3159252"/>
            <a:ext cx="301752" cy="0"/>
          </a:xfrm>
          <a:prstGeom prst="line">
            <a:avLst/>
          </a:prstGeom>
          <a:ln w="2032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2468880" y="2542032"/>
            <a:ext cx="1975104" cy="1234440"/>
          </a:xfrm>
          <a:prstGeom prst="roundRect">
            <a:avLst>
              <a:gd name="adj" fmla="val 10000"/>
            </a:avLst>
          </a:prstGeom>
          <a:solidFill>
            <a:srgbClr val="CFE2F3"/>
          </a:solidFill>
          <a:ln w="2159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Time BiLSTM</a:t>
            </a:r>
          </a:p>
          <a:p>
            <a:pPr algn="ctr">
              <a:spcAft>
                <a:spcPts val="1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+ Light-Freq</a:t>
            </a:r>
          </a:p>
          <a:p>
            <a:pPr algn="ctr">
              <a:spcAft>
                <a:spcPts val="1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× 4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4443984" y="3159252"/>
            <a:ext cx="310896" cy="0"/>
          </a:xfrm>
          <a:prstGeom prst="line">
            <a:avLst/>
          </a:prstGeom>
          <a:ln w="2032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4782312" y="2542032"/>
            <a:ext cx="1700784" cy="123444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2159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Speaker-wise</a:t>
            </a:r>
          </a:p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time pooling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483096" y="3159252"/>
            <a:ext cx="301752" cy="0"/>
          </a:xfrm>
          <a:prstGeom prst="line">
            <a:avLst/>
          </a:prstGeom>
          <a:ln w="2032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6812280" y="2542032"/>
            <a:ext cx="1993392" cy="1234440"/>
          </a:xfrm>
          <a:prstGeom prst="roundRect">
            <a:avLst>
              <a:gd name="adj" fmla="val 10000"/>
            </a:avLst>
          </a:prstGeom>
          <a:solidFill>
            <a:srgbClr val="CFE2F3"/>
          </a:solidFill>
          <a:ln w="2159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Frequency Attn</a:t>
            </a:r>
          </a:p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+ ConvFFN</a:t>
            </a:r>
          </a:p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× 2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8805672" y="3159252"/>
            <a:ext cx="310896" cy="0"/>
          </a:xfrm>
          <a:prstGeom prst="line">
            <a:avLst/>
          </a:prstGeom>
          <a:ln w="2032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9144000" y="2542032"/>
            <a:ext cx="1554480" cy="1234440"/>
          </a:xfrm>
          <a:prstGeom prst="roundRect">
            <a:avLst>
              <a:gd name="adj" fmla="val 10000"/>
            </a:avLst>
          </a:prstGeom>
          <a:solidFill>
            <a:srgbClr val="CFE2F3"/>
          </a:solidFill>
          <a:ln w="2159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Shared</a:t>
            </a:r>
          </a:p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CTF head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10698480" y="3159252"/>
            <a:ext cx="274320" cy="0"/>
          </a:xfrm>
          <a:prstGeom prst="line">
            <a:avLst/>
          </a:prstGeom>
          <a:ln w="2032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991088" y="2816352"/>
            <a:ext cx="1024128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CTF 1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CTF 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85216" y="3950208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Time BiLSTM (independently at each frequency bin)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69264" y="4517136"/>
            <a:ext cx="1645920" cy="576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159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LayerNorm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035808" y="4517136"/>
            <a:ext cx="2788920" cy="576072"/>
          </a:xfrm>
          <a:prstGeom prst="roundRect">
            <a:avLst>
              <a:gd name="adj" fmla="val 10000"/>
            </a:avLst>
          </a:prstGeom>
          <a:solidFill>
            <a:srgbClr val="CFE2F3"/>
          </a:solidFill>
          <a:ln w="2159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BiLSTM: 64 per direction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245352" y="4517136"/>
            <a:ext cx="1947672" cy="576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159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Linear: 128 → 64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613648" y="4517136"/>
            <a:ext cx="1600200" cy="576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159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+ residual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2615184" y="4805172"/>
            <a:ext cx="393192" cy="0"/>
          </a:xfrm>
          <a:prstGeom prst="line">
            <a:avLst/>
          </a:prstGeom>
          <a:ln w="2032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5824728" y="4805172"/>
            <a:ext cx="393192" cy="0"/>
          </a:xfrm>
          <a:prstGeom prst="line">
            <a:avLst/>
          </a:prstGeom>
          <a:ln w="2032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193024" y="4805172"/>
            <a:ext cx="393192" cy="0"/>
          </a:xfrm>
          <a:prstGeom prst="line">
            <a:avLst/>
          </a:prstGeom>
          <a:ln w="20320">
            <a:solidFill>
              <a:srgbClr val="4454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585216" y="5422392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D = 64  |  Pooling hidden = 32  |  Attention = 4 heads  |  FFN = 128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85216" y="5843016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000000"/>
                </a:solidFill>
                <a:latin typeface="Arial"/>
              </a:rPr>
              <a:t>STFT: FFT 512 / hop 256  |  Output per source: 257 frequency bins × 60 CTF taps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30352" y="6309360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Source: local TimeBiLSTM implementation and comparison configuration (16 kHz).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2023-05-30T01:56:36Z</dcterms:created>
  <dc:creator>Nitsu</dc:creator>
  <dc:title>DAMSEP and BLSTM-based CTF Estimator</dc:title>
  <dc:subject>Three-slide progress meeting excerpt following the supplied design</dc:subject>
  <cp:keywords>DAMSEP; CTF; BLSTM; progress meeting</cp:keywords>
</cp:coreProperties>
</file>
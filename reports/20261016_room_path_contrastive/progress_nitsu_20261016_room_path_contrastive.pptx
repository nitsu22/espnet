
<file path=[Content_Types].xml><?xml version="1.0" encoding="utf-8"?>
<Types xmlns="http://schemas.openxmlformats.org/package/2006/content-types">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hPDjuTLT1/Z/lH1LkHQURQLaHXW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F7857EC-8D50-4316-8B8B-107264D61117}">
  <a:tblStyle styleId="{3F7857EC-8D50-4316-8B8B-107264D61117}"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3422BEC9-E013-45ED-BE18-4B41DF18F571}"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diagram follows the user screenshot (factorized model ②). It represents the pooled BiMamba room/path contrastive implementation, not the earlier TF-Locoformer RT60-supervised model. Room code is shared by two path-specific decoding branches, with shared decoder weights. The two views reuse the same room, microphone, source positions and RIR pair; the second view selects two speakers different from the originals and each other, with different speech. Projection heads are auxiliary, used only for contrastive training; CTF decoding uses unprojected codes. No RT60 regression label is used by these contrastive losses. Room code is not guaranteed to encode only physical room properties.</a:t>
            </a:r>
          </a:p>
          <a:p/>
          <a:p>
            <a:r>
              <a:t>Simplified visual revision: two forward passes through the same parameter-shared factorized estimator, Data A (speakers 1/2) and Data B (speakers 3/4). The two views have the same room, microphone and both physical RIR paths. The room slide highlights the matching room codes. The path slide illustrates matching Path 1 codes; Path 2 follows the same rule. Colored dashed lines denote training-only contrastive comparisons, not CTF inference inputs. CTF PIT aligns the physical paths independently per view. The loss uses projected features; projection heads are omitted for readability. Room negatives are other batch items; path negatives are exclusively the other path within the same item. No source-position invariance claim.</a:t>
            </a:r>
          </a:p>
          <a:p/>
          <a:p>
            <a:r>
              <a:t>Simplified visual revision: two forward passes through the same parameter-shared factorized estimator, Data A (speakers 1/2) and Data B (speakers 3/4). The two views have the same room, microphone and both physical RIR paths. The room slide highlights the matching room codes. The path slide illustrates matching Path 1 codes; Path 2 follows the same rule. Colored dashed lines denote training-only contrastive comparisons, not CTF inference inputs. CTF PIT aligns the physical paths independently per view. The loss uses projected features; projection heads are omitted for readability. Room negatives are other batch items; path negatives are exclusively the other path within the same item. No source-position invariance claim.</a:t>
            </a:r>
          </a:p>
        </p:txBody>
      </p:sp>
      <p:sp>
        <p:nvSpPr>
          <p:cNvPr id="90" name="Google Shape;9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cfbc2b36df_0_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Exact loss: symmetric NT-Xent / InfoNCE. Each anchor has one positive, the same identity in the other view. All self similarities are excluded. Similarity is cosine after per-frequency LayerNorm -&gt; Linear64/64 -&gt; SiLU -&gt; Linear64/32, flattening frequency and feature axes and L2 normalization. Temperature 0.1. Room grouping: one global group with batch items as identities; positive is the same item across views, negatives are both views of every other batch item (2(B-1) negatives). Each item is a fixed room/microphone/RIR-pair condition, so this does not impose invariance to changed source positions. Path grouping: separate group per item, two physical paths as identities; one positive is the same path in the other view, two negatives are the other path in both views. Paths from unrelated items are excluded. Both path-2 anchors also have a positive across views (not all symmetric links are drawn). Independent CTF-only PIT in each view aligns predicted paths to reference RIR order. Contrastive path features are taken before adding slot embeddings. Total loss is the mean of the two Sweep v2 PIT losses + 0.01 room loss + 0.01 path loss. Room-only/path-only/control set the corresponding weights to zero. Batch size 2 gives four input waveforms, two room negatives per anchor and two path negatives per anchor. Validation uses primary-view Sweep loss without contrastive terms.</a:t>
            </a:r>
          </a:p>
          <a:p/>
          <a:p>
            <a:r>
              <a:t>Simplified visual revision: two forward passes through the same parameter-shared factorized estimator, Data A (speakers 1/2) and Data B (speakers 3/4). The two views have the same room, microphone and both physical RIR paths. The room slide highlights the matching room codes. The path slide illustrates matching Path 1 codes; Path 2 follows the same rule. Colored dashed lines denote training-only contrastive comparisons, not CTF inference inputs. CTF PIT aligns the physical paths independently per view. The loss uses projected features; projection heads are omitted for readability. Room negatives are other batch items; path negatives are exclusively the other path within the same item. No source-position invariance claim.</a:t>
            </a:r>
          </a:p>
          <a:p/>
          <a:p>
            <a:r>
              <a:t>Simplified visual revision: two forward passes through the same parameter-shared factorized estimator, Data A (speakers 1/2) and Data B (speakers 3/4). The two views have the same room, microphone and both physical RIR paths. The room slide highlights the matching room codes. The path slide illustrates matching Path 1 codes; Path 2 follows the same rule. Colored dashed lines denote training-only contrastive comparisons, not CTF inference inputs. CTF PIT aligns the physical paths independently per view. The loss uses projected features; projection heads are omitted for readability. Room negatives are other batch items; path negatives are exclusively the other path within the same item. No source-position invariance claim.</a:t>
            </a:r>
          </a:p>
        </p:txBody>
      </p:sp>
      <p:sp>
        <p:nvSpPr>
          <p:cNvPr id="104" name="Google Shape;104;g3cfbc2b36df_0_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 スライド" type="title">
  <p:cSld name="TITLE">
    <p:spTree>
      <p:nvGrpSpPr>
        <p:cNvPr id="15" name="Shape 15"/>
        <p:cNvGrpSpPr/>
        <p:nvPr/>
      </p:nvGrpSpPr>
      <p:grpSpPr>
        <a:xfrm>
          <a:off x="0" y="0"/>
          <a:ext cx="0" cy="0"/>
          <a:chOff x="0" y="0"/>
          <a:chExt cx="0" cy="0"/>
        </a:xfrm>
      </p:grpSpPr>
      <p:sp>
        <p:nvSpPr>
          <p:cNvPr id="16" name="Google Shape;16;p7"/>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7"/>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とコンテンツ" type="obj">
  <p:cSld name="OBJECT">
    <p:spTree>
      <p:nvGrpSpPr>
        <p:cNvPr id="21" name="Shape 21"/>
        <p:cNvGrpSpPr/>
        <p:nvPr/>
      </p:nvGrpSpPr>
      <p:grpSpPr>
        <a:xfrm>
          <a:off x="0" y="0"/>
          <a:ext cx="0" cy="0"/>
          <a:chOff x="0" y="0"/>
          <a:chExt cx="0" cy="0"/>
        </a:xfrm>
      </p:grpSpPr>
      <p:sp>
        <p:nvSpPr>
          <p:cNvPr id="22" name="Google Shape;22;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7" name="Shape 27"/>
        <p:cNvGrpSpPr/>
        <p:nvPr/>
      </p:nvGrpSpPr>
      <p:grpSpPr>
        <a:xfrm>
          <a:off x="0" y="0"/>
          <a:ext cx="0" cy="0"/>
          <a:chOff x="0" y="0"/>
          <a:chExt cx="0" cy="0"/>
        </a:xfrm>
      </p:grpSpPr>
      <p:sp>
        <p:nvSpPr>
          <p:cNvPr id="28" name="Google Shape;28;g27a0e24568b_0_106"/>
          <p:cNvSpPr txBox="1"/>
          <p:nvPr>
            <p:ph type="title"/>
          </p:nvPr>
        </p:nvSpPr>
        <p:spPr>
          <a:xfrm>
            <a:off x="415600" y="593367"/>
            <a:ext cx="11360700" cy="7635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SzPts val="4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g27a0e24568b_0_106"/>
          <p:cNvSpPr txBox="1"/>
          <p:nvPr>
            <p:ph idx="1" type="body"/>
          </p:nvPr>
        </p:nvSpPr>
        <p:spPr>
          <a:xfrm>
            <a:off x="415600" y="1536633"/>
            <a:ext cx="11360700" cy="455520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SzPts val="2800"/>
              <a:buChar char="•"/>
              <a:defRPr/>
            </a:lvl1pPr>
            <a:lvl2pPr indent="-381000" lvl="1" marL="914400" algn="l">
              <a:lnSpc>
                <a:spcPct val="90000"/>
              </a:lnSpc>
              <a:spcBef>
                <a:spcPts val="500"/>
              </a:spcBef>
              <a:spcAft>
                <a:spcPts val="0"/>
              </a:spcAft>
              <a:buSzPts val="2400"/>
              <a:buChar char="•"/>
              <a:defRPr/>
            </a:lvl2pPr>
            <a:lvl3pPr indent="-355600" lvl="2" marL="1371600" algn="l">
              <a:lnSpc>
                <a:spcPct val="90000"/>
              </a:lnSpc>
              <a:spcBef>
                <a:spcPts val="500"/>
              </a:spcBef>
              <a:spcAft>
                <a:spcPts val="0"/>
              </a:spcAft>
              <a:buSzPts val="2000"/>
              <a:buChar char="•"/>
              <a:defRPr/>
            </a:lvl3pPr>
            <a:lvl4pPr indent="-342900" lvl="3" marL="1828800" algn="l">
              <a:lnSpc>
                <a:spcPct val="90000"/>
              </a:lnSpc>
              <a:spcBef>
                <a:spcPts val="500"/>
              </a:spcBef>
              <a:spcAft>
                <a:spcPts val="0"/>
              </a:spcAft>
              <a:buSzPts val="1800"/>
              <a:buChar char="•"/>
              <a:defRPr/>
            </a:lvl4pPr>
            <a:lvl5pPr indent="-342900" lvl="4" marL="2286000" algn="l">
              <a:lnSpc>
                <a:spcPct val="90000"/>
              </a:lnSpc>
              <a:spcBef>
                <a:spcPts val="500"/>
              </a:spcBef>
              <a:spcAft>
                <a:spcPts val="0"/>
              </a:spcAft>
              <a:buSzPts val="1800"/>
              <a:buChar char="•"/>
              <a:defRPr/>
            </a:lvl5pPr>
            <a:lvl6pPr indent="-342900" lvl="5" marL="2743200" algn="l">
              <a:lnSpc>
                <a:spcPct val="90000"/>
              </a:lnSpc>
              <a:spcBef>
                <a:spcPts val="500"/>
              </a:spcBef>
              <a:spcAft>
                <a:spcPts val="0"/>
              </a:spcAft>
              <a:buSzPts val="1800"/>
              <a:buChar char="•"/>
              <a:defRPr/>
            </a:lvl6pPr>
            <a:lvl7pPr indent="-342900" lvl="6" marL="3200400" algn="l">
              <a:lnSpc>
                <a:spcPct val="90000"/>
              </a:lnSpc>
              <a:spcBef>
                <a:spcPts val="500"/>
              </a:spcBef>
              <a:spcAft>
                <a:spcPts val="0"/>
              </a:spcAft>
              <a:buSzPts val="1800"/>
              <a:buChar char="•"/>
              <a:defRPr/>
            </a:lvl7pPr>
            <a:lvl8pPr indent="-342900" lvl="7" marL="3657600" algn="l">
              <a:lnSpc>
                <a:spcPct val="90000"/>
              </a:lnSpc>
              <a:spcBef>
                <a:spcPts val="500"/>
              </a:spcBef>
              <a:spcAft>
                <a:spcPts val="0"/>
              </a:spcAft>
              <a:buSzPts val="1800"/>
              <a:buChar char="•"/>
              <a:defRPr/>
            </a:lvl8pPr>
            <a:lvl9pPr indent="-342900" lvl="8" marL="4114800" algn="l">
              <a:lnSpc>
                <a:spcPct val="90000"/>
              </a:lnSpc>
              <a:spcBef>
                <a:spcPts val="500"/>
              </a:spcBef>
              <a:spcAft>
                <a:spcPts val="0"/>
              </a:spcAft>
              <a:buSzPts val="1800"/>
              <a:buChar char="•"/>
              <a:defRPr/>
            </a:lvl9pPr>
          </a:lstStyle>
          <a:p/>
        </p:txBody>
      </p:sp>
      <p:sp>
        <p:nvSpPr>
          <p:cNvPr id="30" name="Google Shape;30;g27a0e24568b_0_106"/>
          <p:cNvSpPr txBox="1"/>
          <p:nvPr>
            <p:ph idx="12" type="sldNum"/>
          </p:nvPr>
        </p:nvSpPr>
        <p:spPr>
          <a:xfrm>
            <a:off x="11296610" y="6217622"/>
            <a:ext cx="731700" cy="5247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セクション見出し" type="secHead">
  <p:cSld name="SECTION_HEADER">
    <p:spTree>
      <p:nvGrpSpPr>
        <p:cNvPr id="31" name="Shape 31"/>
        <p:cNvGrpSpPr/>
        <p:nvPr/>
      </p:nvGrpSpPr>
      <p:grpSpPr>
        <a:xfrm>
          <a:off x="0" y="0"/>
          <a:ext cx="0" cy="0"/>
          <a:chOff x="0" y="0"/>
          <a:chExt cx="0" cy="0"/>
        </a:xfrm>
      </p:grpSpPr>
      <p:sp>
        <p:nvSpPr>
          <p:cNvPr id="32" name="Google Shape;32;p9"/>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Arial"/>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9"/>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4" name="Google Shape;34;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つのコンテンツ" type="twoObj">
  <p:cSld name="TWO_OBJECTS">
    <p:spTree>
      <p:nvGrpSpPr>
        <p:cNvPr id="37" name="Shape 37"/>
        <p:cNvGrpSpPr/>
        <p:nvPr/>
      </p:nvGrpSpPr>
      <p:grpSpPr>
        <a:xfrm>
          <a:off x="0" y="0"/>
          <a:ext cx="0" cy="0"/>
          <a:chOff x="0" y="0"/>
          <a:chExt cx="0" cy="0"/>
        </a:xfrm>
      </p:grpSpPr>
      <p:sp>
        <p:nvSpPr>
          <p:cNvPr id="38" name="Google Shape;38;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10"/>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10"/>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較" type="twoTxTwoObj">
  <p:cSld name="TWO_OBJECTS_WITH_TEXT">
    <p:spTree>
      <p:nvGrpSpPr>
        <p:cNvPr id="44" name="Shape 44"/>
        <p:cNvGrpSpPr/>
        <p:nvPr/>
      </p:nvGrpSpPr>
      <p:grpSpPr>
        <a:xfrm>
          <a:off x="0" y="0"/>
          <a:ext cx="0" cy="0"/>
          <a:chOff x="0" y="0"/>
          <a:chExt cx="0" cy="0"/>
        </a:xfrm>
      </p:grpSpPr>
      <p:sp>
        <p:nvSpPr>
          <p:cNvPr id="45" name="Google Shape;45;p11"/>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11"/>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7" name="Google Shape;47;p11"/>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11"/>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9" name="Google Shape;49;p11"/>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のみ" type="titleOnly">
  <p:cSld name="TITLE_ONLY">
    <p:spTree>
      <p:nvGrpSpPr>
        <p:cNvPr id="53" name="Shape 53"/>
        <p:cNvGrpSpPr/>
        <p:nvPr/>
      </p:nvGrpSpPr>
      <p:grpSpPr>
        <a:xfrm>
          <a:off x="0" y="0"/>
          <a:ext cx="0" cy="0"/>
          <a:chOff x="0" y="0"/>
          <a:chExt cx="0" cy="0"/>
        </a:xfrm>
      </p:grpSpPr>
      <p:sp>
        <p:nvSpPr>
          <p:cNvPr id="54" name="Google Shape;54;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白紙" type="blank">
  <p:cSld name="BLANK">
    <p:spTree>
      <p:nvGrpSpPr>
        <p:cNvPr id="58" name="Shape 58"/>
        <p:cNvGrpSpPr/>
        <p:nvPr/>
      </p:nvGrpSpPr>
      <p:grpSpPr>
        <a:xfrm>
          <a:off x="0" y="0"/>
          <a:ext cx="0" cy="0"/>
          <a:chOff x="0" y="0"/>
          <a:chExt cx="0" cy="0"/>
        </a:xfrm>
      </p:grpSpPr>
      <p:sp>
        <p:nvSpPr>
          <p:cNvPr id="59" name="Google Shape;59;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付きのコンテンツ" type="objTx">
  <p:cSld name="OBJECT_WITH_CAPTION_TEXT">
    <p:spTree>
      <p:nvGrpSpPr>
        <p:cNvPr id="62" name="Shape 62"/>
        <p:cNvGrpSpPr/>
        <p:nvPr/>
      </p:nvGrpSpPr>
      <p:grpSpPr>
        <a:xfrm>
          <a:off x="0" y="0"/>
          <a:ext cx="0" cy="0"/>
          <a:chOff x="0" y="0"/>
          <a:chExt cx="0" cy="0"/>
        </a:xfrm>
      </p:grpSpPr>
      <p:sp>
        <p:nvSpPr>
          <p:cNvPr id="63" name="Google Shape;63;p14"/>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14"/>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5" name="Google Shape;65;p14"/>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6" name="Google Shape;66;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付きの図" type="picTx">
  <p:cSld name="PICTURE_WITH_CAPTION_TEXT">
    <p:spTree>
      <p:nvGrpSpPr>
        <p:cNvPr id="69" name="Shape 69"/>
        <p:cNvGrpSpPr/>
        <p:nvPr/>
      </p:nvGrpSpPr>
      <p:grpSpPr>
        <a:xfrm>
          <a:off x="0" y="0"/>
          <a:ext cx="0" cy="0"/>
          <a:chOff x="0" y="0"/>
          <a:chExt cx="0" cy="0"/>
        </a:xfrm>
      </p:grpSpPr>
      <p:sp>
        <p:nvSpPr>
          <p:cNvPr id="70" name="Google Shape;70;p15"/>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5"/>
          <p:cNvSpPr/>
          <p:nvPr>
            <p:ph idx="2" type="pic"/>
          </p:nvPr>
        </p:nvSpPr>
        <p:spPr>
          <a:xfrm>
            <a:off x="5183188" y="987425"/>
            <a:ext cx="6172200" cy="4873625"/>
          </a:xfrm>
          <a:prstGeom prst="rect">
            <a:avLst/>
          </a:prstGeom>
          <a:noFill/>
          <a:ln>
            <a:noFill/>
          </a:ln>
        </p:spPr>
      </p:sp>
      <p:sp>
        <p:nvSpPr>
          <p:cNvPr id="72" name="Google Shape;72;p15"/>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3" name="Google Shape;73;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タイトルと縦書きテキスト" type="vertTx">
  <p:cSld name="VERTICAL_TEXT">
    <p:spTree>
      <p:nvGrpSpPr>
        <p:cNvPr id="76" name="Shape 76"/>
        <p:cNvGrpSpPr/>
        <p:nvPr/>
      </p:nvGrpSpPr>
      <p:grpSpPr>
        <a:xfrm>
          <a:off x="0" y="0"/>
          <a:ext cx="0" cy="0"/>
          <a:chOff x="0" y="0"/>
          <a:chExt cx="0" cy="0"/>
        </a:xfrm>
      </p:grpSpPr>
      <p:sp>
        <p:nvSpPr>
          <p:cNvPr id="77" name="Google Shape;77;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6"/>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9" name="Google Shape;79;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縦書きタイトルと&#10;縦書きテキスト" type="vertTitleAndTx">
  <p:cSld name="VERTICAL_TITLE_AND_VERTICAL_TEXT">
    <p:spTree>
      <p:nvGrpSpPr>
        <p:cNvPr id="82" name="Shape 82"/>
        <p:cNvGrpSpPr/>
        <p:nvPr/>
      </p:nvGrpSpPr>
      <p:grpSpPr>
        <a:xfrm>
          <a:off x="0" y="0"/>
          <a:ext cx="0" cy="0"/>
          <a:chOff x="0" y="0"/>
          <a:chExt cx="0" cy="0"/>
        </a:xfrm>
      </p:grpSpPr>
      <p:sp>
        <p:nvSpPr>
          <p:cNvPr id="83" name="Google Shape;83;p17"/>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17"/>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5" name="Google Shape;85;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91" name="Shape 91"/>
        <p:cNvGrpSpPr/>
        <p:nvPr/>
      </p:nvGrpSpPr>
      <p:grpSpPr>
        <a:xfrm>
          <a:off x="0" y="0"/>
          <a:ext cx="0" cy="0"/>
          <a:chOff x="0" y="0"/>
          <a:chExt cx="0" cy="0"/>
        </a:xfrm>
      </p:grpSpPr>
      <p:sp>
        <p:nvSpPr>
          <p:cNvPr id="92" name="TextBox 91"/>
          <p:cNvSpPr txBox="1"/>
          <p:nvPr/>
        </p:nvSpPr>
        <p:spPr>
          <a:xfrm>
            <a:off x="365760" y="475488"/>
            <a:ext cx="10972800" cy="640080"/>
          </a:xfrm>
          <a:prstGeom prst="rect">
            <a:avLst/>
          </a:prstGeom>
          <a:noFill/>
        </p:spPr>
        <p:txBody>
          <a:bodyPr wrap="none" lIns="18288" rIns="18288" tIns="9144" bIns="9144">
            <a:spAutoFit/>
          </a:bodyPr>
          <a:lstStyle/>
          <a:p>
            <a:pPr algn="l">
              <a:spcAft>
                <a:spcPts val="200"/>
              </a:spcAft>
            </a:pPr>
            <a:r>
              <a:rPr sz="3600" b="0">
                <a:solidFill>
                  <a:srgbClr val="000000"/>
                </a:solidFill>
                <a:latin typeface="Arial"/>
              </a:rPr>
              <a:t>Lroom</a:t>
            </a:r>
          </a:p>
        </p:txBody>
      </p:sp>
      <p:sp>
        <p:nvSpPr>
          <p:cNvPr id="93" name="TextBox 92"/>
          <p:cNvSpPr txBox="1"/>
          <p:nvPr/>
        </p:nvSpPr>
        <p:spPr>
          <a:xfrm>
            <a:off x="594360" y="1197864"/>
            <a:ext cx="10972800" cy="457200"/>
          </a:xfrm>
          <a:prstGeom prst="rect">
            <a:avLst/>
          </a:prstGeom>
          <a:noFill/>
        </p:spPr>
        <p:txBody>
          <a:bodyPr wrap="none" lIns="18288" rIns="18288" tIns="9144" bIns="9144">
            <a:spAutoFit/>
          </a:bodyPr>
          <a:lstStyle/>
          <a:p>
            <a:pPr algn="l">
              <a:spcAft>
                <a:spcPts val="200"/>
              </a:spcAft>
            </a:pPr>
            <a:r>
              <a:rPr sz="2400" b="0">
                <a:solidFill>
                  <a:srgbClr val="000000"/>
                </a:solidFill>
                <a:latin typeface="Noto Sans CJK JP"/>
              </a:rPr>
              <a:t>部屋・配置は同じ。話者・発話だけ替える。</a:t>
            </a:r>
          </a:p>
        </p:txBody>
      </p:sp>
      <p:sp>
        <p:nvSpPr>
          <p:cNvPr id="94" name="TextBox 93"/>
          <p:cNvSpPr txBox="1"/>
          <p:nvPr/>
        </p:nvSpPr>
        <p:spPr>
          <a:xfrm>
            <a:off x="530352" y="2249424"/>
            <a:ext cx="1234440" cy="347472"/>
          </a:xfrm>
          <a:prstGeom prst="rect">
            <a:avLst/>
          </a:prstGeom>
          <a:noFill/>
        </p:spPr>
        <p:txBody>
          <a:bodyPr wrap="none" lIns="18288" rIns="18288" tIns="9144" bIns="9144">
            <a:spAutoFit/>
          </a:bodyPr>
          <a:lstStyle/>
          <a:p>
            <a:pPr algn="ctr">
              <a:spcAft>
                <a:spcPts val="200"/>
              </a:spcAft>
            </a:pPr>
            <a:r>
              <a:rPr sz="2300" b="1">
                <a:solidFill>
                  <a:srgbClr val="000000"/>
                </a:solidFill>
                <a:latin typeface="Arial"/>
              </a:rPr>
              <a:t>Data A</a:t>
            </a:r>
          </a:p>
        </p:txBody>
      </p:sp>
      <p:sp>
        <p:nvSpPr>
          <p:cNvPr id="95" name="TextBox 94"/>
          <p:cNvSpPr txBox="1"/>
          <p:nvPr/>
        </p:nvSpPr>
        <p:spPr>
          <a:xfrm>
            <a:off x="457200" y="2642616"/>
            <a:ext cx="1371600" cy="329184"/>
          </a:xfrm>
          <a:prstGeom prst="rect">
            <a:avLst/>
          </a:prstGeom>
          <a:noFill/>
        </p:spPr>
        <p:txBody>
          <a:bodyPr wrap="none" lIns="18288" rIns="18288" tIns="9144" bIns="9144">
            <a:spAutoFit/>
          </a:bodyPr>
          <a:lstStyle/>
          <a:p>
            <a:pPr algn="ctr">
              <a:spcAft>
                <a:spcPts val="200"/>
              </a:spcAft>
            </a:pPr>
            <a:r>
              <a:rPr sz="1700" b="0">
                <a:solidFill>
                  <a:srgbClr val="000000"/>
                </a:solidFill>
                <a:latin typeface="Noto Sans CJK JP"/>
              </a:rPr>
              <a:t>話者 1 + 2</a:t>
            </a:r>
          </a:p>
        </p:txBody>
      </p:sp>
      <p:sp>
        <p:nvSpPr>
          <p:cNvPr id="96" name="Rounded Rectangle 95"/>
          <p:cNvSpPr/>
          <p:nvPr/>
        </p:nvSpPr>
        <p:spPr>
          <a:xfrm>
            <a:off x="2029968" y="1920240"/>
            <a:ext cx="1280160" cy="1755648"/>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Encoder</a:t>
            </a:r>
          </a:p>
        </p:txBody>
      </p:sp>
      <p:cxnSp>
        <p:nvCxnSpPr>
          <p:cNvPr id="97" name="Connector 96"/>
          <p:cNvCxnSpPr/>
          <p:nvPr/>
        </p:nvCxnSpPr>
        <p:spPr>
          <a:xfrm>
            <a:off x="1783080" y="2798064"/>
            <a:ext cx="24688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3310128" y="2798064"/>
            <a:ext cx="2926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a:off x="3602736" y="2157984"/>
            <a:ext cx="0" cy="128016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sp>
        <p:nvSpPr>
          <p:cNvPr id="100" name="Rounded Rectangle 99"/>
          <p:cNvSpPr/>
          <p:nvPr/>
        </p:nvSpPr>
        <p:spPr>
          <a:xfrm>
            <a:off x="3904487" y="1920240"/>
            <a:ext cx="2267712" cy="475488"/>
          </a:xfrm>
          <a:prstGeom prst="roundRect">
            <a:avLst>
              <a:gd name="adj" fmla="val 10000"/>
            </a:avLst>
          </a:prstGeom>
          <a:solidFill>
            <a:srgbClr val="FCE5CD"/>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1 emb</a:t>
            </a:r>
          </a:p>
        </p:txBody>
      </p:sp>
      <p:cxnSp>
        <p:nvCxnSpPr>
          <p:cNvPr id="101" name="Connector 100"/>
          <p:cNvCxnSpPr/>
          <p:nvPr/>
        </p:nvCxnSpPr>
        <p:spPr>
          <a:xfrm>
            <a:off x="3602736" y="215798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02" name="Rounded Rectangle 101"/>
          <p:cNvSpPr/>
          <p:nvPr/>
        </p:nvSpPr>
        <p:spPr>
          <a:xfrm>
            <a:off x="3904487" y="2560320"/>
            <a:ext cx="2267712" cy="475488"/>
          </a:xfrm>
          <a:prstGeom prst="roundRect">
            <a:avLst>
              <a:gd name="adj" fmla="val 10000"/>
            </a:avLst>
          </a:prstGeom>
          <a:solidFill>
            <a:srgbClr val="D9EAD3"/>
          </a:solidFill>
          <a:ln w="21590">
            <a:solidFill>
              <a:srgbClr val="4B8057"/>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Room emb</a:t>
            </a:r>
          </a:p>
        </p:txBody>
      </p:sp>
      <p:cxnSp>
        <p:nvCxnSpPr>
          <p:cNvPr id="103" name="Connector 102"/>
          <p:cNvCxnSpPr/>
          <p:nvPr/>
        </p:nvCxnSpPr>
        <p:spPr>
          <a:xfrm>
            <a:off x="3602736" y="2798063"/>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04" name="Rounded Rectangle 103"/>
          <p:cNvSpPr/>
          <p:nvPr/>
        </p:nvSpPr>
        <p:spPr>
          <a:xfrm>
            <a:off x="3904487" y="3200400"/>
            <a:ext cx="2267712" cy="475488"/>
          </a:xfrm>
          <a:prstGeom prst="roundRect">
            <a:avLst>
              <a:gd name="adj" fmla="val 10000"/>
            </a:avLst>
          </a:prstGeom>
          <a:solidFill>
            <a:srgbClr val="FFF2CC"/>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2 emb</a:t>
            </a:r>
          </a:p>
        </p:txBody>
      </p:sp>
      <p:cxnSp>
        <p:nvCxnSpPr>
          <p:cNvPr id="105" name="Connector 104"/>
          <p:cNvCxnSpPr/>
          <p:nvPr/>
        </p:nvCxnSpPr>
        <p:spPr>
          <a:xfrm>
            <a:off x="3602736" y="343814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06" name="Rounded Rectangle 105"/>
          <p:cNvSpPr/>
          <p:nvPr/>
        </p:nvSpPr>
        <p:spPr>
          <a:xfrm>
            <a:off x="7607808" y="181051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sp>
        <p:nvSpPr>
          <p:cNvPr id="107" name="Rounded Rectangle 106"/>
          <p:cNvSpPr/>
          <p:nvPr/>
        </p:nvSpPr>
        <p:spPr>
          <a:xfrm>
            <a:off x="7607808" y="309067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cxnSp>
        <p:nvCxnSpPr>
          <p:cNvPr id="108" name="Connector 107"/>
          <p:cNvCxnSpPr/>
          <p:nvPr/>
        </p:nvCxnSpPr>
        <p:spPr>
          <a:xfrm>
            <a:off x="6172200" y="215798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09" name="Connector 108"/>
          <p:cNvCxnSpPr/>
          <p:nvPr/>
        </p:nvCxnSpPr>
        <p:spPr>
          <a:xfrm>
            <a:off x="6172200" y="343814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10" name="Connector 109"/>
          <p:cNvCxnSpPr/>
          <p:nvPr/>
        </p:nvCxnSpPr>
        <p:spPr>
          <a:xfrm>
            <a:off x="6172200" y="2798064"/>
            <a:ext cx="9784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11" name="Connector 110"/>
          <p:cNvCxnSpPr/>
          <p:nvPr/>
        </p:nvCxnSpPr>
        <p:spPr>
          <a:xfrm>
            <a:off x="7150608" y="2377440"/>
            <a:ext cx="0" cy="86868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12" name="Connector 111"/>
          <p:cNvCxnSpPr/>
          <p:nvPr/>
        </p:nvCxnSpPr>
        <p:spPr>
          <a:xfrm>
            <a:off x="7150608" y="237744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a:off x="7150608" y="324612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a:off x="8942832" y="215798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15" name="TextBox 114"/>
          <p:cNvSpPr txBox="1"/>
          <p:nvPr/>
        </p:nvSpPr>
        <p:spPr>
          <a:xfrm>
            <a:off x="9464040" y="1938528"/>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1</a:t>
            </a:r>
          </a:p>
        </p:txBody>
      </p:sp>
      <p:cxnSp>
        <p:nvCxnSpPr>
          <p:cNvPr id="116" name="Connector 115"/>
          <p:cNvCxnSpPr/>
          <p:nvPr/>
        </p:nvCxnSpPr>
        <p:spPr>
          <a:xfrm>
            <a:off x="8942832" y="343814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17" name="TextBox 116"/>
          <p:cNvSpPr txBox="1"/>
          <p:nvPr/>
        </p:nvSpPr>
        <p:spPr>
          <a:xfrm>
            <a:off x="9464040" y="3218687"/>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2</a:t>
            </a:r>
          </a:p>
        </p:txBody>
      </p:sp>
      <p:sp>
        <p:nvSpPr>
          <p:cNvPr id="118" name="TextBox 117"/>
          <p:cNvSpPr txBox="1"/>
          <p:nvPr/>
        </p:nvSpPr>
        <p:spPr>
          <a:xfrm>
            <a:off x="530352" y="4764024"/>
            <a:ext cx="1234440" cy="347472"/>
          </a:xfrm>
          <a:prstGeom prst="rect">
            <a:avLst/>
          </a:prstGeom>
          <a:noFill/>
        </p:spPr>
        <p:txBody>
          <a:bodyPr wrap="none" lIns="18288" rIns="18288" tIns="9144" bIns="9144">
            <a:spAutoFit/>
          </a:bodyPr>
          <a:lstStyle/>
          <a:p>
            <a:pPr algn="ctr">
              <a:spcAft>
                <a:spcPts val="200"/>
              </a:spcAft>
            </a:pPr>
            <a:r>
              <a:rPr sz="2300" b="1">
                <a:solidFill>
                  <a:srgbClr val="000000"/>
                </a:solidFill>
                <a:latin typeface="Arial"/>
              </a:rPr>
              <a:t>Data B</a:t>
            </a:r>
          </a:p>
        </p:txBody>
      </p:sp>
      <p:sp>
        <p:nvSpPr>
          <p:cNvPr id="119" name="TextBox 118"/>
          <p:cNvSpPr txBox="1"/>
          <p:nvPr/>
        </p:nvSpPr>
        <p:spPr>
          <a:xfrm>
            <a:off x="457200" y="5157216"/>
            <a:ext cx="1371600" cy="329184"/>
          </a:xfrm>
          <a:prstGeom prst="rect">
            <a:avLst/>
          </a:prstGeom>
          <a:noFill/>
        </p:spPr>
        <p:txBody>
          <a:bodyPr wrap="none" lIns="18288" rIns="18288" tIns="9144" bIns="9144">
            <a:spAutoFit/>
          </a:bodyPr>
          <a:lstStyle/>
          <a:p>
            <a:pPr algn="ctr">
              <a:spcAft>
                <a:spcPts val="200"/>
              </a:spcAft>
            </a:pPr>
            <a:r>
              <a:rPr sz="1700" b="0">
                <a:solidFill>
                  <a:srgbClr val="000000"/>
                </a:solidFill>
                <a:latin typeface="Noto Sans CJK JP"/>
              </a:rPr>
              <a:t>話者 3 + 4</a:t>
            </a:r>
          </a:p>
        </p:txBody>
      </p:sp>
      <p:sp>
        <p:nvSpPr>
          <p:cNvPr id="120" name="Rounded Rectangle 119"/>
          <p:cNvSpPr/>
          <p:nvPr/>
        </p:nvSpPr>
        <p:spPr>
          <a:xfrm>
            <a:off x="2029968" y="4434840"/>
            <a:ext cx="1280160" cy="1755648"/>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Encoder</a:t>
            </a:r>
          </a:p>
        </p:txBody>
      </p:sp>
      <p:cxnSp>
        <p:nvCxnSpPr>
          <p:cNvPr id="121" name="Connector 120"/>
          <p:cNvCxnSpPr/>
          <p:nvPr/>
        </p:nvCxnSpPr>
        <p:spPr>
          <a:xfrm>
            <a:off x="1783080" y="5312664"/>
            <a:ext cx="24688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a:off x="3310128" y="5312664"/>
            <a:ext cx="2926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23" name="Connector 122"/>
          <p:cNvCxnSpPr/>
          <p:nvPr/>
        </p:nvCxnSpPr>
        <p:spPr>
          <a:xfrm>
            <a:off x="3602736" y="4672584"/>
            <a:ext cx="0" cy="128016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sp>
        <p:nvSpPr>
          <p:cNvPr id="124" name="Rounded Rectangle 123"/>
          <p:cNvSpPr/>
          <p:nvPr/>
        </p:nvSpPr>
        <p:spPr>
          <a:xfrm>
            <a:off x="3904487" y="4434840"/>
            <a:ext cx="2267712" cy="475488"/>
          </a:xfrm>
          <a:prstGeom prst="roundRect">
            <a:avLst>
              <a:gd name="adj" fmla="val 10000"/>
            </a:avLst>
          </a:prstGeom>
          <a:solidFill>
            <a:srgbClr val="FCE5CD"/>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1 emb</a:t>
            </a:r>
          </a:p>
        </p:txBody>
      </p:sp>
      <p:cxnSp>
        <p:nvCxnSpPr>
          <p:cNvPr id="125" name="Connector 124"/>
          <p:cNvCxnSpPr/>
          <p:nvPr/>
        </p:nvCxnSpPr>
        <p:spPr>
          <a:xfrm>
            <a:off x="3602736" y="467258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26" name="Rounded Rectangle 125"/>
          <p:cNvSpPr/>
          <p:nvPr/>
        </p:nvSpPr>
        <p:spPr>
          <a:xfrm>
            <a:off x="3904487" y="5074920"/>
            <a:ext cx="2267712" cy="475488"/>
          </a:xfrm>
          <a:prstGeom prst="roundRect">
            <a:avLst>
              <a:gd name="adj" fmla="val 10000"/>
            </a:avLst>
          </a:prstGeom>
          <a:solidFill>
            <a:srgbClr val="D9EAD3"/>
          </a:solidFill>
          <a:ln w="21590">
            <a:solidFill>
              <a:srgbClr val="4B8057"/>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Room emb</a:t>
            </a:r>
          </a:p>
        </p:txBody>
      </p:sp>
      <p:cxnSp>
        <p:nvCxnSpPr>
          <p:cNvPr id="127" name="Connector 126"/>
          <p:cNvCxnSpPr/>
          <p:nvPr/>
        </p:nvCxnSpPr>
        <p:spPr>
          <a:xfrm>
            <a:off x="3602736" y="531266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28" name="Rounded Rectangle 127"/>
          <p:cNvSpPr/>
          <p:nvPr/>
        </p:nvSpPr>
        <p:spPr>
          <a:xfrm>
            <a:off x="3904487" y="5715000"/>
            <a:ext cx="2267712" cy="475488"/>
          </a:xfrm>
          <a:prstGeom prst="roundRect">
            <a:avLst>
              <a:gd name="adj" fmla="val 10000"/>
            </a:avLst>
          </a:prstGeom>
          <a:solidFill>
            <a:srgbClr val="FFF2CC"/>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2 emb</a:t>
            </a:r>
          </a:p>
        </p:txBody>
      </p:sp>
      <p:cxnSp>
        <p:nvCxnSpPr>
          <p:cNvPr id="129" name="Connector 128"/>
          <p:cNvCxnSpPr/>
          <p:nvPr/>
        </p:nvCxnSpPr>
        <p:spPr>
          <a:xfrm>
            <a:off x="3602736" y="595274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30" name="Rounded Rectangle 129"/>
          <p:cNvSpPr/>
          <p:nvPr/>
        </p:nvSpPr>
        <p:spPr>
          <a:xfrm>
            <a:off x="7607808" y="432511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sp>
        <p:nvSpPr>
          <p:cNvPr id="131" name="Rounded Rectangle 130"/>
          <p:cNvSpPr/>
          <p:nvPr/>
        </p:nvSpPr>
        <p:spPr>
          <a:xfrm>
            <a:off x="7607808" y="560527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cxnSp>
        <p:nvCxnSpPr>
          <p:cNvPr id="132" name="Connector 131"/>
          <p:cNvCxnSpPr/>
          <p:nvPr/>
        </p:nvCxnSpPr>
        <p:spPr>
          <a:xfrm>
            <a:off x="6172200" y="467258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33" name="Connector 132"/>
          <p:cNvCxnSpPr/>
          <p:nvPr/>
        </p:nvCxnSpPr>
        <p:spPr>
          <a:xfrm>
            <a:off x="6172200" y="595274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a:off x="6172200" y="5312664"/>
            <a:ext cx="9784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35" name="Connector 134"/>
          <p:cNvCxnSpPr/>
          <p:nvPr/>
        </p:nvCxnSpPr>
        <p:spPr>
          <a:xfrm>
            <a:off x="7150608" y="4892040"/>
            <a:ext cx="0" cy="86868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36" name="Connector 135"/>
          <p:cNvCxnSpPr/>
          <p:nvPr/>
        </p:nvCxnSpPr>
        <p:spPr>
          <a:xfrm>
            <a:off x="7150608" y="489204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37" name="Connector 136"/>
          <p:cNvCxnSpPr/>
          <p:nvPr/>
        </p:nvCxnSpPr>
        <p:spPr>
          <a:xfrm>
            <a:off x="7150608" y="576072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38" name="Connector 137"/>
          <p:cNvCxnSpPr/>
          <p:nvPr/>
        </p:nvCxnSpPr>
        <p:spPr>
          <a:xfrm>
            <a:off x="8942832" y="467258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39" name="TextBox 138"/>
          <p:cNvSpPr txBox="1"/>
          <p:nvPr/>
        </p:nvSpPr>
        <p:spPr>
          <a:xfrm>
            <a:off x="9464040" y="4453128"/>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1</a:t>
            </a:r>
          </a:p>
        </p:txBody>
      </p:sp>
      <p:cxnSp>
        <p:nvCxnSpPr>
          <p:cNvPr id="140" name="Connector 139"/>
          <p:cNvCxnSpPr/>
          <p:nvPr/>
        </p:nvCxnSpPr>
        <p:spPr>
          <a:xfrm>
            <a:off x="8942832" y="595274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41" name="TextBox 140"/>
          <p:cNvSpPr txBox="1"/>
          <p:nvPr/>
        </p:nvSpPr>
        <p:spPr>
          <a:xfrm>
            <a:off x="9464040" y="5733288"/>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2</a:t>
            </a:r>
          </a:p>
        </p:txBody>
      </p:sp>
      <p:sp>
        <p:nvSpPr>
          <p:cNvPr id="142" name="TextBox 141"/>
          <p:cNvSpPr txBox="1"/>
          <p:nvPr/>
        </p:nvSpPr>
        <p:spPr>
          <a:xfrm>
            <a:off x="1874519" y="3886200"/>
            <a:ext cx="2011680" cy="283464"/>
          </a:xfrm>
          <a:prstGeom prst="rect">
            <a:avLst/>
          </a:prstGeom>
          <a:noFill/>
        </p:spPr>
        <p:txBody>
          <a:bodyPr wrap="none" lIns="18288" rIns="18288" tIns="9144" bIns="9144">
            <a:spAutoFit/>
          </a:bodyPr>
          <a:lstStyle/>
          <a:p>
            <a:pPr algn="ctr">
              <a:spcAft>
                <a:spcPts val="200"/>
              </a:spcAft>
            </a:pPr>
            <a:r>
              <a:rPr sz="1500" b="0">
                <a:solidFill>
                  <a:srgbClr val="777777"/>
                </a:solidFill>
                <a:latin typeface="Noto Sans CJK JP"/>
              </a:rPr>
              <a:t>同じモデル</a:t>
            </a:r>
          </a:p>
        </p:txBody>
      </p:sp>
      <p:cxnSp>
        <p:nvCxnSpPr>
          <p:cNvPr id="143" name="Connector 142"/>
          <p:cNvCxnSpPr/>
          <p:nvPr/>
        </p:nvCxnSpPr>
        <p:spPr>
          <a:xfrm>
            <a:off x="6172200" y="2798064"/>
            <a:ext cx="374904" cy="0"/>
          </a:xfrm>
          <a:prstGeom prst="line">
            <a:avLst/>
          </a:prstGeom>
          <a:ln w="33020">
            <a:solidFill>
              <a:srgbClr val="4B8057"/>
            </a:solidFill>
            <a:prstDash val="dash"/>
          </a:ln>
        </p:spPr>
        <p:style>
          <a:lnRef idx="2">
            <a:schemeClr val="accent1"/>
          </a:lnRef>
          <a:fillRef idx="0">
            <a:schemeClr val="accent1"/>
          </a:fillRef>
          <a:effectRef idx="0">
            <a:schemeClr val="accent1"/>
          </a:effectRef>
          <a:fontRef idx="minor">
            <a:schemeClr val="tx1"/>
          </a:fontRef>
        </p:style>
      </p:cxnSp>
      <p:cxnSp>
        <p:nvCxnSpPr>
          <p:cNvPr id="144" name="Connector 143"/>
          <p:cNvCxnSpPr/>
          <p:nvPr/>
        </p:nvCxnSpPr>
        <p:spPr>
          <a:xfrm>
            <a:off x="6547104" y="2798064"/>
            <a:ext cx="0" cy="1106423"/>
          </a:xfrm>
          <a:prstGeom prst="line">
            <a:avLst/>
          </a:prstGeom>
          <a:ln w="33020">
            <a:solidFill>
              <a:srgbClr val="4B8057"/>
            </a:solidFill>
            <a:prstDash val="dash"/>
          </a:ln>
        </p:spPr>
        <p:style>
          <a:lnRef idx="2">
            <a:schemeClr val="accent1"/>
          </a:lnRef>
          <a:fillRef idx="0">
            <a:schemeClr val="accent1"/>
          </a:fillRef>
          <a:effectRef idx="0">
            <a:schemeClr val="accent1"/>
          </a:effectRef>
          <a:fontRef idx="minor">
            <a:schemeClr val="tx1"/>
          </a:fontRef>
        </p:style>
      </p:cxnSp>
      <p:cxnSp>
        <p:nvCxnSpPr>
          <p:cNvPr id="145" name="Connector 144"/>
          <p:cNvCxnSpPr/>
          <p:nvPr/>
        </p:nvCxnSpPr>
        <p:spPr>
          <a:xfrm>
            <a:off x="6172200" y="5312664"/>
            <a:ext cx="374904" cy="0"/>
          </a:xfrm>
          <a:prstGeom prst="line">
            <a:avLst/>
          </a:prstGeom>
          <a:ln w="33020">
            <a:solidFill>
              <a:srgbClr val="4B8057"/>
            </a:solidFill>
            <a:prstDash val="dash"/>
          </a:ln>
        </p:spPr>
        <p:style>
          <a:lnRef idx="2">
            <a:schemeClr val="accent1"/>
          </a:lnRef>
          <a:fillRef idx="0">
            <a:schemeClr val="accent1"/>
          </a:fillRef>
          <a:effectRef idx="0">
            <a:schemeClr val="accent1"/>
          </a:effectRef>
          <a:fontRef idx="minor">
            <a:schemeClr val="tx1"/>
          </a:fontRef>
        </p:style>
      </p:cxnSp>
      <p:cxnSp>
        <p:nvCxnSpPr>
          <p:cNvPr id="146" name="Connector 145"/>
          <p:cNvCxnSpPr/>
          <p:nvPr/>
        </p:nvCxnSpPr>
        <p:spPr>
          <a:xfrm flipV="1">
            <a:off x="6547104" y="4105656"/>
            <a:ext cx="0" cy="1207008"/>
          </a:xfrm>
          <a:prstGeom prst="line">
            <a:avLst/>
          </a:prstGeom>
          <a:ln w="33020">
            <a:solidFill>
              <a:srgbClr val="4B8057"/>
            </a:solidFill>
            <a:prstDash val="dash"/>
          </a:ln>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6547104" y="3904487"/>
            <a:ext cx="1042416" cy="0"/>
          </a:xfrm>
          <a:prstGeom prst="line">
            <a:avLst/>
          </a:prstGeom>
          <a:ln w="33020">
            <a:solidFill>
              <a:srgbClr val="4B8057"/>
            </a:solidFill>
            <a:prstDash val="dash"/>
          </a:ln>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6547104" y="4105656"/>
            <a:ext cx="1042416" cy="0"/>
          </a:xfrm>
          <a:prstGeom prst="line">
            <a:avLst/>
          </a:prstGeom>
          <a:ln w="33020">
            <a:solidFill>
              <a:srgbClr val="4B8057"/>
            </a:solidFill>
            <a:prstDash val="dash"/>
          </a:ln>
        </p:spPr>
        <p:style>
          <a:lnRef idx="2">
            <a:schemeClr val="accent1"/>
          </a:lnRef>
          <a:fillRef idx="0">
            <a:schemeClr val="accent1"/>
          </a:fillRef>
          <a:effectRef idx="0">
            <a:schemeClr val="accent1"/>
          </a:effectRef>
          <a:fontRef idx="minor">
            <a:schemeClr val="tx1"/>
          </a:fontRef>
        </p:style>
      </p:cxnSp>
      <p:sp>
        <p:nvSpPr>
          <p:cNvPr id="149" name="Rounded Rectangle 148"/>
          <p:cNvSpPr/>
          <p:nvPr/>
        </p:nvSpPr>
        <p:spPr>
          <a:xfrm>
            <a:off x="7653527" y="3858768"/>
            <a:ext cx="3310128" cy="402336"/>
          </a:xfrm>
          <a:prstGeom prst="roundRect">
            <a:avLst>
              <a:gd name="adj" fmla="val 10000"/>
            </a:avLst>
          </a:prstGeom>
          <a:solidFill>
            <a:srgbClr val="D9EAD3"/>
          </a:solidFill>
          <a:ln w="21590">
            <a:solidFill>
              <a:srgbClr val="4B8057"/>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1900" b="1">
                <a:solidFill>
                  <a:srgbClr val="000000"/>
                </a:solidFill>
                <a:latin typeface="Noto Sans CJK JP"/>
              </a:rPr>
              <a:t>同じ部屋 → 近づける</a:t>
            </a:r>
          </a:p>
        </p:txBody>
      </p:sp>
      <p:sp>
        <p:nvSpPr>
          <p:cNvPr id="150" name="TextBox 149"/>
          <p:cNvSpPr txBox="1"/>
          <p:nvPr/>
        </p:nvSpPr>
        <p:spPr>
          <a:xfrm>
            <a:off x="594360" y="6400800"/>
            <a:ext cx="10332720" cy="265176"/>
          </a:xfrm>
          <a:prstGeom prst="rect">
            <a:avLst/>
          </a:prstGeom>
          <a:noFill/>
        </p:spPr>
        <p:txBody>
          <a:bodyPr wrap="none" lIns="18288" rIns="18288" tIns="9144" bIns="9144">
            <a:spAutoFit/>
          </a:bodyPr>
          <a:lstStyle/>
          <a:p>
            <a:pPr algn="l">
              <a:spcAft>
                <a:spcPts val="200"/>
              </a:spcAft>
            </a:pPr>
            <a:r>
              <a:rPr sz="1600" b="0">
                <a:solidFill>
                  <a:srgbClr val="666666"/>
                </a:solidFill>
                <a:latin typeface="Noto Sans CJK JP"/>
              </a:rPr>
              <a:t>別のデータ条件は離す</a:t>
            </a:r>
          </a:p>
        </p:txBody>
      </p:sp>
      <p:sp>
        <p:nvSpPr>
          <p:cNvPr id="151" name="TextBox 150"/>
          <p:cNvSpPr txBox="1"/>
          <p:nvPr/>
        </p:nvSpPr>
        <p:spPr>
          <a:xfrm>
            <a:off x="10927080" y="6400800"/>
            <a:ext cx="365760" cy="246888"/>
          </a:xfrm>
          <a:prstGeom prst="rect">
            <a:avLst/>
          </a:prstGeom>
          <a:noFill/>
        </p:spPr>
        <p:txBody>
          <a:bodyPr wrap="none" lIns="18288" rIns="18288" tIns="9144" bIns="9144">
            <a:spAutoFit/>
          </a:bodyPr>
          <a:lstStyle/>
          <a:p>
            <a:pPr algn="r">
              <a:spcAft>
                <a:spcPts val="200"/>
              </a:spcAft>
            </a:pPr>
            <a:r>
              <a:rPr sz="1200" b="0">
                <a:solidFill>
                  <a:srgbClr val="888888"/>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a:effectLst/>
      </p:bgPr>
    </p:bg>
    <p:spTree>
      <p:nvGrpSpPr>
        <p:cNvPr id="105" name="Shape 105"/>
        <p:cNvGrpSpPr/>
        <p:nvPr/>
      </p:nvGrpSpPr>
      <p:grpSpPr>
        <a:xfrm>
          <a:off x="0" y="0"/>
          <a:ext cx="0" cy="0"/>
          <a:chOff x="0" y="0"/>
          <a:chExt cx="0" cy="0"/>
        </a:xfrm>
      </p:grpSpPr>
      <p:sp>
        <p:nvSpPr>
          <p:cNvPr id="106" name="TextBox 105"/>
          <p:cNvSpPr txBox="1"/>
          <p:nvPr/>
        </p:nvSpPr>
        <p:spPr>
          <a:xfrm>
            <a:off x="365760" y="475488"/>
            <a:ext cx="10972800" cy="640080"/>
          </a:xfrm>
          <a:prstGeom prst="rect">
            <a:avLst/>
          </a:prstGeom>
          <a:noFill/>
        </p:spPr>
        <p:txBody>
          <a:bodyPr wrap="none" lIns="18288" rIns="18288" tIns="9144" bIns="9144">
            <a:spAutoFit/>
          </a:bodyPr>
          <a:lstStyle/>
          <a:p>
            <a:pPr algn="l">
              <a:spcAft>
                <a:spcPts val="200"/>
              </a:spcAft>
            </a:pPr>
            <a:r>
              <a:rPr sz="3600" b="0">
                <a:solidFill>
                  <a:srgbClr val="000000"/>
                </a:solidFill>
                <a:latin typeface="Arial"/>
              </a:rPr>
              <a:t>Lpath</a:t>
            </a:r>
          </a:p>
        </p:txBody>
      </p:sp>
      <p:sp>
        <p:nvSpPr>
          <p:cNvPr id="107" name="TextBox 106"/>
          <p:cNvSpPr txBox="1"/>
          <p:nvPr/>
        </p:nvSpPr>
        <p:spPr>
          <a:xfrm>
            <a:off x="594360" y="1197864"/>
            <a:ext cx="10972800" cy="457200"/>
          </a:xfrm>
          <a:prstGeom prst="rect">
            <a:avLst/>
          </a:prstGeom>
          <a:noFill/>
        </p:spPr>
        <p:txBody>
          <a:bodyPr wrap="none" lIns="18288" rIns="18288" tIns="9144" bIns="9144">
            <a:spAutoFit/>
          </a:bodyPr>
          <a:lstStyle/>
          <a:p>
            <a:pPr algn="l">
              <a:spcAft>
                <a:spcPts val="200"/>
              </a:spcAft>
            </a:pPr>
            <a:r>
              <a:rPr sz="2400" b="0">
                <a:solidFill>
                  <a:srgbClr val="000000"/>
                </a:solidFill>
                <a:latin typeface="Noto Sans CJK JP"/>
              </a:rPr>
              <a:t>部屋・配置は同じ。話者・発話だけ替える。</a:t>
            </a:r>
          </a:p>
        </p:txBody>
      </p:sp>
      <p:sp>
        <p:nvSpPr>
          <p:cNvPr id="108" name="TextBox 107"/>
          <p:cNvSpPr txBox="1"/>
          <p:nvPr/>
        </p:nvSpPr>
        <p:spPr>
          <a:xfrm>
            <a:off x="530352" y="2249424"/>
            <a:ext cx="1234440" cy="347472"/>
          </a:xfrm>
          <a:prstGeom prst="rect">
            <a:avLst/>
          </a:prstGeom>
          <a:noFill/>
        </p:spPr>
        <p:txBody>
          <a:bodyPr wrap="none" lIns="18288" rIns="18288" tIns="9144" bIns="9144">
            <a:spAutoFit/>
          </a:bodyPr>
          <a:lstStyle/>
          <a:p>
            <a:pPr algn="ctr">
              <a:spcAft>
                <a:spcPts val="200"/>
              </a:spcAft>
            </a:pPr>
            <a:r>
              <a:rPr sz="2300" b="1">
                <a:solidFill>
                  <a:srgbClr val="000000"/>
                </a:solidFill>
                <a:latin typeface="Arial"/>
              </a:rPr>
              <a:t>Data A</a:t>
            </a:r>
          </a:p>
        </p:txBody>
      </p:sp>
      <p:sp>
        <p:nvSpPr>
          <p:cNvPr id="109" name="TextBox 108"/>
          <p:cNvSpPr txBox="1"/>
          <p:nvPr/>
        </p:nvSpPr>
        <p:spPr>
          <a:xfrm>
            <a:off x="457200" y="2642616"/>
            <a:ext cx="1371600" cy="329184"/>
          </a:xfrm>
          <a:prstGeom prst="rect">
            <a:avLst/>
          </a:prstGeom>
          <a:noFill/>
        </p:spPr>
        <p:txBody>
          <a:bodyPr wrap="none" lIns="18288" rIns="18288" tIns="9144" bIns="9144">
            <a:spAutoFit/>
          </a:bodyPr>
          <a:lstStyle/>
          <a:p>
            <a:pPr algn="ctr">
              <a:spcAft>
                <a:spcPts val="200"/>
              </a:spcAft>
            </a:pPr>
            <a:r>
              <a:rPr sz="1700" b="0">
                <a:solidFill>
                  <a:srgbClr val="000000"/>
                </a:solidFill>
                <a:latin typeface="Noto Sans CJK JP"/>
              </a:rPr>
              <a:t>話者 1 + 2</a:t>
            </a:r>
          </a:p>
        </p:txBody>
      </p:sp>
      <p:sp>
        <p:nvSpPr>
          <p:cNvPr id="110" name="Rounded Rectangle 109"/>
          <p:cNvSpPr/>
          <p:nvPr/>
        </p:nvSpPr>
        <p:spPr>
          <a:xfrm>
            <a:off x="2029968" y="1920240"/>
            <a:ext cx="1280160" cy="1755648"/>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Encoder</a:t>
            </a:r>
          </a:p>
        </p:txBody>
      </p:sp>
      <p:cxnSp>
        <p:nvCxnSpPr>
          <p:cNvPr id="111" name="Connector 110"/>
          <p:cNvCxnSpPr/>
          <p:nvPr/>
        </p:nvCxnSpPr>
        <p:spPr>
          <a:xfrm>
            <a:off x="1783080" y="2798064"/>
            <a:ext cx="24688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12" name="Connector 111"/>
          <p:cNvCxnSpPr/>
          <p:nvPr/>
        </p:nvCxnSpPr>
        <p:spPr>
          <a:xfrm>
            <a:off x="3310128" y="2798064"/>
            <a:ext cx="2926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a:off x="3602736" y="2157984"/>
            <a:ext cx="0" cy="128016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sp>
        <p:nvSpPr>
          <p:cNvPr id="114" name="Rounded Rectangle 113"/>
          <p:cNvSpPr/>
          <p:nvPr/>
        </p:nvSpPr>
        <p:spPr>
          <a:xfrm>
            <a:off x="3904487" y="1920240"/>
            <a:ext cx="2267712" cy="475488"/>
          </a:xfrm>
          <a:prstGeom prst="roundRect">
            <a:avLst>
              <a:gd name="adj" fmla="val 10000"/>
            </a:avLst>
          </a:prstGeom>
          <a:solidFill>
            <a:srgbClr val="FCE5CD"/>
          </a:solidFill>
          <a:ln w="21590">
            <a:solidFill>
              <a:srgbClr val="BC823E"/>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1 emb</a:t>
            </a:r>
          </a:p>
        </p:txBody>
      </p:sp>
      <p:cxnSp>
        <p:nvCxnSpPr>
          <p:cNvPr id="115" name="Connector 114"/>
          <p:cNvCxnSpPr/>
          <p:nvPr/>
        </p:nvCxnSpPr>
        <p:spPr>
          <a:xfrm>
            <a:off x="3602736" y="215798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16" name="Rounded Rectangle 115"/>
          <p:cNvSpPr/>
          <p:nvPr/>
        </p:nvSpPr>
        <p:spPr>
          <a:xfrm>
            <a:off x="3904487" y="2560320"/>
            <a:ext cx="2267712" cy="475488"/>
          </a:xfrm>
          <a:prstGeom prst="roundRect">
            <a:avLst>
              <a:gd name="adj" fmla="val 10000"/>
            </a:avLst>
          </a:prstGeom>
          <a:solidFill>
            <a:srgbClr val="D9EAD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Room emb</a:t>
            </a:r>
          </a:p>
        </p:txBody>
      </p:sp>
      <p:cxnSp>
        <p:nvCxnSpPr>
          <p:cNvPr id="117" name="Connector 116"/>
          <p:cNvCxnSpPr/>
          <p:nvPr/>
        </p:nvCxnSpPr>
        <p:spPr>
          <a:xfrm>
            <a:off x="3602736" y="2798063"/>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18" name="Rounded Rectangle 117"/>
          <p:cNvSpPr/>
          <p:nvPr/>
        </p:nvSpPr>
        <p:spPr>
          <a:xfrm>
            <a:off x="3904487" y="3200400"/>
            <a:ext cx="2267712" cy="475488"/>
          </a:xfrm>
          <a:prstGeom prst="roundRect">
            <a:avLst>
              <a:gd name="adj" fmla="val 10000"/>
            </a:avLst>
          </a:prstGeom>
          <a:solidFill>
            <a:srgbClr val="FFF2CC"/>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2 emb</a:t>
            </a:r>
          </a:p>
        </p:txBody>
      </p:sp>
      <p:cxnSp>
        <p:nvCxnSpPr>
          <p:cNvPr id="119" name="Connector 118"/>
          <p:cNvCxnSpPr/>
          <p:nvPr/>
        </p:nvCxnSpPr>
        <p:spPr>
          <a:xfrm>
            <a:off x="3602736" y="343814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20" name="Rounded Rectangle 119"/>
          <p:cNvSpPr/>
          <p:nvPr/>
        </p:nvSpPr>
        <p:spPr>
          <a:xfrm>
            <a:off x="7607808" y="181051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sp>
        <p:nvSpPr>
          <p:cNvPr id="121" name="Rounded Rectangle 120"/>
          <p:cNvSpPr/>
          <p:nvPr/>
        </p:nvSpPr>
        <p:spPr>
          <a:xfrm>
            <a:off x="7607808" y="309067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cxnSp>
        <p:nvCxnSpPr>
          <p:cNvPr id="122" name="Connector 121"/>
          <p:cNvCxnSpPr/>
          <p:nvPr/>
        </p:nvCxnSpPr>
        <p:spPr>
          <a:xfrm>
            <a:off x="6172200" y="215798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23" name="Connector 122"/>
          <p:cNvCxnSpPr/>
          <p:nvPr/>
        </p:nvCxnSpPr>
        <p:spPr>
          <a:xfrm>
            <a:off x="6172200" y="343814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24" name="Connector 123"/>
          <p:cNvCxnSpPr/>
          <p:nvPr/>
        </p:nvCxnSpPr>
        <p:spPr>
          <a:xfrm>
            <a:off x="6172200" y="2798064"/>
            <a:ext cx="9784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25" name="Connector 124"/>
          <p:cNvCxnSpPr/>
          <p:nvPr/>
        </p:nvCxnSpPr>
        <p:spPr>
          <a:xfrm>
            <a:off x="7150608" y="2377440"/>
            <a:ext cx="0" cy="86868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a:off x="7150608" y="237744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27" name="Connector 126"/>
          <p:cNvCxnSpPr/>
          <p:nvPr/>
        </p:nvCxnSpPr>
        <p:spPr>
          <a:xfrm>
            <a:off x="7150608" y="324612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28" name="Connector 127"/>
          <p:cNvCxnSpPr/>
          <p:nvPr/>
        </p:nvCxnSpPr>
        <p:spPr>
          <a:xfrm>
            <a:off x="8942832" y="215798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29" name="TextBox 128"/>
          <p:cNvSpPr txBox="1"/>
          <p:nvPr/>
        </p:nvSpPr>
        <p:spPr>
          <a:xfrm>
            <a:off x="9464040" y="1938528"/>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1</a:t>
            </a:r>
          </a:p>
        </p:txBody>
      </p:sp>
      <p:cxnSp>
        <p:nvCxnSpPr>
          <p:cNvPr id="130" name="Connector 129"/>
          <p:cNvCxnSpPr/>
          <p:nvPr/>
        </p:nvCxnSpPr>
        <p:spPr>
          <a:xfrm>
            <a:off x="8942832" y="343814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31" name="TextBox 130"/>
          <p:cNvSpPr txBox="1"/>
          <p:nvPr/>
        </p:nvSpPr>
        <p:spPr>
          <a:xfrm>
            <a:off x="9464040" y="3218687"/>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2</a:t>
            </a:r>
          </a:p>
        </p:txBody>
      </p:sp>
      <p:sp>
        <p:nvSpPr>
          <p:cNvPr id="132" name="TextBox 131"/>
          <p:cNvSpPr txBox="1"/>
          <p:nvPr/>
        </p:nvSpPr>
        <p:spPr>
          <a:xfrm>
            <a:off x="530352" y="4764024"/>
            <a:ext cx="1234440" cy="347472"/>
          </a:xfrm>
          <a:prstGeom prst="rect">
            <a:avLst/>
          </a:prstGeom>
          <a:noFill/>
        </p:spPr>
        <p:txBody>
          <a:bodyPr wrap="none" lIns="18288" rIns="18288" tIns="9144" bIns="9144">
            <a:spAutoFit/>
          </a:bodyPr>
          <a:lstStyle/>
          <a:p>
            <a:pPr algn="ctr">
              <a:spcAft>
                <a:spcPts val="200"/>
              </a:spcAft>
            </a:pPr>
            <a:r>
              <a:rPr sz="2300" b="1">
                <a:solidFill>
                  <a:srgbClr val="000000"/>
                </a:solidFill>
                <a:latin typeface="Arial"/>
              </a:rPr>
              <a:t>Data B</a:t>
            </a:r>
          </a:p>
        </p:txBody>
      </p:sp>
      <p:sp>
        <p:nvSpPr>
          <p:cNvPr id="133" name="TextBox 132"/>
          <p:cNvSpPr txBox="1"/>
          <p:nvPr/>
        </p:nvSpPr>
        <p:spPr>
          <a:xfrm>
            <a:off x="457200" y="5157216"/>
            <a:ext cx="1371600" cy="329184"/>
          </a:xfrm>
          <a:prstGeom prst="rect">
            <a:avLst/>
          </a:prstGeom>
          <a:noFill/>
        </p:spPr>
        <p:txBody>
          <a:bodyPr wrap="none" lIns="18288" rIns="18288" tIns="9144" bIns="9144">
            <a:spAutoFit/>
          </a:bodyPr>
          <a:lstStyle/>
          <a:p>
            <a:pPr algn="ctr">
              <a:spcAft>
                <a:spcPts val="200"/>
              </a:spcAft>
            </a:pPr>
            <a:r>
              <a:rPr sz="1700" b="0">
                <a:solidFill>
                  <a:srgbClr val="000000"/>
                </a:solidFill>
                <a:latin typeface="Noto Sans CJK JP"/>
              </a:rPr>
              <a:t>話者 3 + 4</a:t>
            </a:r>
          </a:p>
        </p:txBody>
      </p:sp>
      <p:sp>
        <p:nvSpPr>
          <p:cNvPr id="134" name="Rounded Rectangle 133"/>
          <p:cNvSpPr/>
          <p:nvPr/>
        </p:nvSpPr>
        <p:spPr>
          <a:xfrm>
            <a:off x="2029968" y="4434840"/>
            <a:ext cx="1280160" cy="1755648"/>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Encoder</a:t>
            </a:r>
          </a:p>
        </p:txBody>
      </p:sp>
      <p:cxnSp>
        <p:nvCxnSpPr>
          <p:cNvPr id="135" name="Connector 134"/>
          <p:cNvCxnSpPr/>
          <p:nvPr/>
        </p:nvCxnSpPr>
        <p:spPr>
          <a:xfrm>
            <a:off x="1783080" y="5312664"/>
            <a:ext cx="24688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36" name="Connector 135"/>
          <p:cNvCxnSpPr/>
          <p:nvPr/>
        </p:nvCxnSpPr>
        <p:spPr>
          <a:xfrm>
            <a:off x="3310128" y="5312664"/>
            <a:ext cx="2926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37" name="Connector 136"/>
          <p:cNvCxnSpPr/>
          <p:nvPr/>
        </p:nvCxnSpPr>
        <p:spPr>
          <a:xfrm>
            <a:off x="3602736" y="4672584"/>
            <a:ext cx="0" cy="128016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sp>
        <p:nvSpPr>
          <p:cNvPr id="138" name="Rounded Rectangle 137"/>
          <p:cNvSpPr/>
          <p:nvPr/>
        </p:nvSpPr>
        <p:spPr>
          <a:xfrm>
            <a:off x="3904487" y="4434840"/>
            <a:ext cx="2267712" cy="475488"/>
          </a:xfrm>
          <a:prstGeom prst="roundRect">
            <a:avLst>
              <a:gd name="adj" fmla="val 10000"/>
            </a:avLst>
          </a:prstGeom>
          <a:solidFill>
            <a:srgbClr val="FCE5CD"/>
          </a:solidFill>
          <a:ln w="21590">
            <a:solidFill>
              <a:srgbClr val="BC823E"/>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1 emb</a:t>
            </a:r>
          </a:p>
        </p:txBody>
      </p:sp>
      <p:cxnSp>
        <p:nvCxnSpPr>
          <p:cNvPr id="139" name="Connector 138"/>
          <p:cNvCxnSpPr/>
          <p:nvPr/>
        </p:nvCxnSpPr>
        <p:spPr>
          <a:xfrm>
            <a:off x="3602736" y="467258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40" name="Rounded Rectangle 139"/>
          <p:cNvSpPr/>
          <p:nvPr/>
        </p:nvSpPr>
        <p:spPr>
          <a:xfrm>
            <a:off x="3904487" y="5074920"/>
            <a:ext cx="2267712" cy="475488"/>
          </a:xfrm>
          <a:prstGeom prst="roundRect">
            <a:avLst>
              <a:gd name="adj" fmla="val 10000"/>
            </a:avLst>
          </a:prstGeom>
          <a:solidFill>
            <a:srgbClr val="D9EAD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Room emb</a:t>
            </a:r>
          </a:p>
        </p:txBody>
      </p:sp>
      <p:cxnSp>
        <p:nvCxnSpPr>
          <p:cNvPr id="141" name="Connector 140"/>
          <p:cNvCxnSpPr/>
          <p:nvPr/>
        </p:nvCxnSpPr>
        <p:spPr>
          <a:xfrm>
            <a:off x="3602736" y="531266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42" name="Rounded Rectangle 141"/>
          <p:cNvSpPr/>
          <p:nvPr/>
        </p:nvSpPr>
        <p:spPr>
          <a:xfrm>
            <a:off x="3904487" y="5715000"/>
            <a:ext cx="2267712" cy="475488"/>
          </a:xfrm>
          <a:prstGeom prst="roundRect">
            <a:avLst>
              <a:gd name="adj" fmla="val 10000"/>
            </a:avLst>
          </a:prstGeom>
          <a:solidFill>
            <a:srgbClr val="FFF2CC"/>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200" b="1">
                <a:solidFill>
                  <a:srgbClr val="000000"/>
                </a:solidFill>
                <a:latin typeface="Arial"/>
              </a:rPr>
              <a:t>Path 2 emb</a:t>
            </a:r>
          </a:p>
        </p:txBody>
      </p:sp>
      <p:cxnSp>
        <p:nvCxnSpPr>
          <p:cNvPr id="143" name="Connector 142"/>
          <p:cNvCxnSpPr/>
          <p:nvPr/>
        </p:nvCxnSpPr>
        <p:spPr>
          <a:xfrm>
            <a:off x="3602736" y="5952744"/>
            <a:ext cx="301751"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44" name="Rounded Rectangle 143"/>
          <p:cNvSpPr/>
          <p:nvPr/>
        </p:nvSpPr>
        <p:spPr>
          <a:xfrm>
            <a:off x="7607808" y="432511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sp>
        <p:nvSpPr>
          <p:cNvPr id="145" name="Rounded Rectangle 144"/>
          <p:cNvSpPr/>
          <p:nvPr/>
        </p:nvSpPr>
        <p:spPr>
          <a:xfrm>
            <a:off x="7607808" y="5605272"/>
            <a:ext cx="1335024" cy="713232"/>
          </a:xfrm>
          <a:prstGeom prst="roundRect">
            <a:avLst>
              <a:gd name="adj" fmla="val 10000"/>
            </a:avLst>
          </a:prstGeom>
          <a:solidFill>
            <a:srgbClr val="F3F3F3"/>
          </a:solidFill>
          <a:ln w="21590">
            <a:solidFill>
              <a:srgbClr val="44546A"/>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2100" b="1">
                <a:solidFill>
                  <a:srgbClr val="000000"/>
                </a:solidFill>
                <a:latin typeface="Arial"/>
              </a:rPr>
              <a:t>Decoder</a:t>
            </a:r>
          </a:p>
        </p:txBody>
      </p:sp>
      <p:cxnSp>
        <p:nvCxnSpPr>
          <p:cNvPr id="146" name="Connector 145"/>
          <p:cNvCxnSpPr/>
          <p:nvPr/>
        </p:nvCxnSpPr>
        <p:spPr>
          <a:xfrm>
            <a:off x="6172200" y="467258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6172200" y="5952744"/>
            <a:ext cx="1435608"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6172200" y="5312664"/>
            <a:ext cx="978408" cy="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a:off x="7150608" y="4892040"/>
            <a:ext cx="0" cy="868680"/>
          </a:xfrm>
          <a:prstGeom prst="line">
            <a:avLst/>
          </a:prstGeom>
          <a:ln w="20320">
            <a:solidFill>
              <a:srgbClr val="44546A"/>
            </a:solidFill>
          </a:ln>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7150608" y="489204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51" name="Connector 150"/>
          <p:cNvCxnSpPr/>
          <p:nvPr/>
        </p:nvCxnSpPr>
        <p:spPr>
          <a:xfrm>
            <a:off x="7150608" y="5760720"/>
            <a:ext cx="457200"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cxnSp>
        <p:nvCxnSpPr>
          <p:cNvPr id="152" name="Connector 151"/>
          <p:cNvCxnSpPr/>
          <p:nvPr/>
        </p:nvCxnSpPr>
        <p:spPr>
          <a:xfrm>
            <a:off x="8942832" y="467258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53" name="TextBox 152"/>
          <p:cNvSpPr txBox="1"/>
          <p:nvPr/>
        </p:nvSpPr>
        <p:spPr>
          <a:xfrm>
            <a:off x="9464040" y="4453128"/>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1</a:t>
            </a:r>
          </a:p>
        </p:txBody>
      </p:sp>
      <p:cxnSp>
        <p:nvCxnSpPr>
          <p:cNvPr id="154" name="Connector 153"/>
          <p:cNvCxnSpPr/>
          <p:nvPr/>
        </p:nvCxnSpPr>
        <p:spPr>
          <a:xfrm>
            <a:off x="8942832" y="5952744"/>
            <a:ext cx="402336" cy="0"/>
          </a:xfrm>
          <a:prstGeom prst="line">
            <a:avLst/>
          </a:prstGeom>
          <a:ln w="20320">
            <a:solidFill>
              <a:srgbClr val="44546A"/>
            </a:solidFill>
            <a:tailEnd type="triangle"/>
          </a:ln>
        </p:spPr>
        <p:style>
          <a:lnRef idx="2">
            <a:schemeClr val="accent1"/>
          </a:lnRef>
          <a:fillRef idx="0">
            <a:schemeClr val="accent1"/>
          </a:fillRef>
          <a:effectRef idx="0">
            <a:schemeClr val="accent1"/>
          </a:effectRef>
          <a:fontRef idx="minor">
            <a:schemeClr val="tx1"/>
          </a:fontRef>
        </p:style>
      </p:cxnSp>
      <p:sp>
        <p:nvSpPr>
          <p:cNvPr id="155" name="TextBox 154"/>
          <p:cNvSpPr txBox="1"/>
          <p:nvPr/>
        </p:nvSpPr>
        <p:spPr>
          <a:xfrm>
            <a:off x="9464040" y="5733288"/>
            <a:ext cx="1463040" cy="384048"/>
          </a:xfrm>
          <a:prstGeom prst="rect">
            <a:avLst/>
          </a:prstGeom>
          <a:noFill/>
        </p:spPr>
        <p:txBody>
          <a:bodyPr wrap="none" lIns="18288" rIns="18288" tIns="9144" bIns="9144">
            <a:spAutoFit/>
          </a:bodyPr>
          <a:lstStyle/>
          <a:p>
            <a:pPr algn="l">
              <a:spcAft>
                <a:spcPts val="200"/>
              </a:spcAft>
            </a:pPr>
            <a:r>
              <a:rPr sz="2400" b="1">
                <a:solidFill>
                  <a:srgbClr val="000000"/>
                </a:solidFill>
                <a:latin typeface="Arial"/>
              </a:rPr>
              <a:t>CTF 2</a:t>
            </a:r>
          </a:p>
        </p:txBody>
      </p:sp>
      <p:sp>
        <p:nvSpPr>
          <p:cNvPr id="156" name="TextBox 155"/>
          <p:cNvSpPr txBox="1"/>
          <p:nvPr/>
        </p:nvSpPr>
        <p:spPr>
          <a:xfrm>
            <a:off x="1874519" y="3886200"/>
            <a:ext cx="2011680" cy="283464"/>
          </a:xfrm>
          <a:prstGeom prst="rect">
            <a:avLst/>
          </a:prstGeom>
          <a:noFill/>
        </p:spPr>
        <p:txBody>
          <a:bodyPr wrap="none" lIns="18288" rIns="18288" tIns="9144" bIns="9144">
            <a:spAutoFit/>
          </a:bodyPr>
          <a:lstStyle/>
          <a:p>
            <a:pPr algn="ctr">
              <a:spcAft>
                <a:spcPts val="200"/>
              </a:spcAft>
            </a:pPr>
            <a:r>
              <a:rPr sz="1500" b="0">
                <a:solidFill>
                  <a:srgbClr val="777777"/>
                </a:solidFill>
                <a:latin typeface="Noto Sans CJK JP"/>
              </a:rPr>
              <a:t>同じモデル</a:t>
            </a:r>
          </a:p>
        </p:txBody>
      </p:sp>
      <p:cxnSp>
        <p:nvCxnSpPr>
          <p:cNvPr id="157" name="Connector 156"/>
          <p:cNvCxnSpPr/>
          <p:nvPr/>
        </p:nvCxnSpPr>
        <p:spPr>
          <a:xfrm>
            <a:off x="6172200" y="2157984"/>
            <a:ext cx="374904" cy="0"/>
          </a:xfrm>
          <a:prstGeom prst="line">
            <a:avLst/>
          </a:prstGeom>
          <a:ln w="33020">
            <a:solidFill>
              <a:srgbClr val="BC823E"/>
            </a:solidFill>
            <a:prstDash val="dash"/>
          </a:ln>
        </p:spPr>
        <p:style>
          <a:lnRef idx="2">
            <a:schemeClr val="accent1"/>
          </a:lnRef>
          <a:fillRef idx="0">
            <a:schemeClr val="accent1"/>
          </a:fillRef>
          <a:effectRef idx="0">
            <a:schemeClr val="accent1"/>
          </a:effectRef>
          <a:fontRef idx="minor">
            <a:schemeClr val="tx1"/>
          </a:fontRef>
        </p:style>
      </p:cxnSp>
      <p:cxnSp>
        <p:nvCxnSpPr>
          <p:cNvPr id="158" name="Connector 157"/>
          <p:cNvCxnSpPr/>
          <p:nvPr/>
        </p:nvCxnSpPr>
        <p:spPr>
          <a:xfrm>
            <a:off x="6547104" y="2157984"/>
            <a:ext cx="0" cy="1746503"/>
          </a:xfrm>
          <a:prstGeom prst="line">
            <a:avLst/>
          </a:prstGeom>
          <a:ln w="33020">
            <a:solidFill>
              <a:srgbClr val="BC823E"/>
            </a:solidFill>
            <a:prstDash val="dash"/>
          </a:ln>
        </p:spPr>
        <p:style>
          <a:lnRef idx="2">
            <a:schemeClr val="accent1"/>
          </a:lnRef>
          <a:fillRef idx="0">
            <a:schemeClr val="accent1"/>
          </a:fillRef>
          <a:effectRef idx="0">
            <a:schemeClr val="accent1"/>
          </a:effectRef>
          <a:fontRef idx="minor">
            <a:schemeClr val="tx1"/>
          </a:fontRef>
        </p:style>
      </p:cxnSp>
      <p:cxnSp>
        <p:nvCxnSpPr>
          <p:cNvPr id="159" name="Connector 158"/>
          <p:cNvCxnSpPr/>
          <p:nvPr/>
        </p:nvCxnSpPr>
        <p:spPr>
          <a:xfrm>
            <a:off x="6172200" y="4672584"/>
            <a:ext cx="374904" cy="0"/>
          </a:xfrm>
          <a:prstGeom prst="line">
            <a:avLst/>
          </a:prstGeom>
          <a:ln w="33020">
            <a:solidFill>
              <a:srgbClr val="BC823E"/>
            </a:solidFill>
            <a:prstDash val="dash"/>
          </a:ln>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flipV="1">
            <a:off x="6547104" y="4105656"/>
            <a:ext cx="0" cy="566928"/>
          </a:xfrm>
          <a:prstGeom prst="line">
            <a:avLst/>
          </a:prstGeom>
          <a:ln w="33020">
            <a:solidFill>
              <a:srgbClr val="BC823E"/>
            </a:solidFill>
            <a:prstDash val="dash"/>
          </a:ln>
        </p:spPr>
        <p:style>
          <a:lnRef idx="2">
            <a:schemeClr val="accent1"/>
          </a:lnRef>
          <a:fillRef idx="0">
            <a:schemeClr val="accent1"/>
          </a:fillRef>
          <a:effectRef idx="0">
            <a:schemeClr val="accent1"/>
          </a:effectRef>
          <a:fontRef idx="minor">
            <a:schemeClr val="tx1"/>
          </a:fontRef>
        </p:style>
      </p:cxnSp>
      <p:cxnSp>
        <p:nvCxnSpPr>
          <p:cNvPr id="161" name="Connector 160"/>
          <p:cNvCxnSpPr/>
          <p:nvPr/>
        </p:nvCxnSpPr>
        <p:spPr>
          <a:xfrm>
            <a:off x="6547104" y="3904487"/>
            <a:ext cx="1042416" cy="0"/>
          </a:xfrm>
          <a:prstGeom prst="line">
            <a:avLst/>
          </a:prstGeom>
          <a:ln w="33020">
            <a:solidFill>
              <a:srgbClr val="BC823E"/>
            </a:solidFill>
            <a:prstDash val="dash"/>
          </a:ln>
        </p:spPr>
        <p:style>
          <a:lnRef idx="2">
            <a:schemeClr val="accent1"/>
          </a:lnRef>
          <a:fillRef idx="0">
            <a:schemeClr val="accent1"/>
          </a:fillRef>
          <a:effectRef idx="0">
            <a:schemeClr val="accent1"/>
          </a:effectRef>
          <a:fontRef idx="minor">
            <a:schemeClr val="tx1"/>
          </a:fontRef>
        </p:style>
      </p:cxnSp>
      <p:cxnSp>
        <p:nvCxnSpPr>
          <p:cNvPr id="162" name="Connector 161"/>
          <p:cNvCxnSpPr/>
          <p:nvPr/>
        </p:nvCxnSpPr>
        <p:spPr>
          <a:xfrm>
            <a:off x="6547104" y="4105656"/>
            <a:ext cx="1042416" cy="0"/>
          </a:xfrm>
          <a:prstGeom prst="line">
            <a:avLst/>
          </a:prstGeom>
          <a:ln w="33020">
            <a:solidFill>
              <a:srgbClr val="BC823E"/>
            </a:solidFill>
            <a:prstDash val="dash"/>
          </a:ln>
        </p:spPr>
        <p:style>
          <a:lnRef idx="2">
            <a:schemeClr val="accent1"/>
          </a:lnRef>
          <a:fillRef idx="0">
            <a:schemeClr val="accent1"/>
          </a:fillRef>
          <a:effectRef idx="0">
            <a:schemeClr val="accent1"/>
          </a:effectRef>
          <a:fontRef idx="minor">
            <a:schemeClr val="tx1"/>
          </a:fontRef>
        </p:style>
      </p:cxnSp>
      <p:sp>
        <p:nvSpPr>
          <p:cNvPr id="163" name="Rounded Rectangle 162"/>
          <p:cNvSpPr/>
          <p:nvPr/>
        </p:nvSpPr>
        <p:spPr>
          <a:xfrm>
            <a:off x="7653527" y="3858768"/>
            <a:ext cx="3310128" cy="402336"/>
          </a:xfrm>
          <a:prstGeom prst="roundRect">
            <a:avLst>
              <a:gd name="adj" fmla="val 10000"/>
            </a:avLst>
          </a:prstGeom>
          <a:solidFill>
            <a:srgbClr val="FCE5CD"/>
          </a:solidFill>
          <a:ln w="21590">
            <a:solidFill>
              <a:srgbClr val="BC823E"/>
            </a:solidFill>
          </a:ln>
        </p:spPr>
        <p:style>
          <a:lnRef idx="1">
            <a:schemeClr val="accent1"/>
          </a:lnRef>
          <a:fillRef idx="3">
            <a:schemeClr val="accent1"/>
          </a:fillRef>
          <a:effectRef idx="0">
            <a:schemeClr val="accent1"/>
          </a:effectRef>
          <a:fontRef idx="minor">
            <a:schemeClr val="lt1"/>
          </a:fontRef>
        </p:style>
        <p:txBody>
          <a:bodyPr rtlCol="0" anchor="ctr" wrap="none" lIns="22860" rIns="22860"/>
          <a:lstStyle/>
          <a:p>
            <a:pPr algn="ctr"/>
            <a:r>
              <a:rPr sz="1900" b="1">
                <a:solidFill>
                  <a:srgbClr val="000000"/>
                </a:solidFill>
                <a:latin typeface="Noto Sans CJK JP"/>
              </a:rPr>
              <a:t>同じ経路 → 近づける</a:t>
            </a:r>
          </a:p>
        </p:txBody>
      </p:sp>
      <p:sp>
        <p:nvSpPr>
          <p:cNvPr id="164" name="TextBox 163"/>
          <p:cNvSpPr txBox="1"/>
          <p:nvPr/>
        </p:nvSpPr>
        <p:spPr>
          <a:xfrm>
            <a:off x="594360" y="6400800"/>
            <a:ext cx="10332720" cy="265176"/>
          </a:xfrm>
          <a:prstGeom prst="rect">
            <a:avLst/>
          </a:prstGeom>
          <a:noFill/>
        </p:spPr>
        <p:txBody>
          <a:bodyPr wrap="none" lIns="18288" rIns="18288" tIns="9144" bIns="9144">
            <a:spAutoFit/>
          </a:bodyPr>
          <a:lstStyle/>
          <a:p>
            <a:pPr algn="l">
              <a:spcAft>
                <a:spcPts val="200"/>
              </a:spcAft>
            </a:pPr>
            <a:r>
              <a:rPr sz="1600" b="0">
                <a:solidFill>
                  <a:srgbClr val="666666"/>
                </a:solidFill>
                <a:latin typeface="Noto Sans CJK JP"/>
              </a:rPr>
              <a:t>もう一方の経路は離す  ／  Path 2 も同様</a:t>
            </a:r>
          </a:p>
        </p:txBody>
      </p:sp>
      <p:sp>
        <p:nvSpPr>
          <p:cNvPr id="165" name="TextBox 164"/>
          <p:cNvSpPr txBox="1"/>
          <p:nvPr/>
        </p:nvSpPr>
        <p:spPr>
          <a:xfrm>
            <a:off x="10927080" y="6400800"/>
            <a:ext cx="365760" cy="246888"/>
          </a:xfrm>
          <a:prstGeom prst="rect">
            <a:avLst/>
          </a:prstGeom>
          <a:noFill/>
        </p:spPr>
        <p:txBody>
          <a:bodyPr wrap="none" lIns="18288" rIns="18288" tIns="9144" bIns="9144">
            <a:spAutoFit/>
          </a:bodyPr>
          <a:lstStyle/>
          <a:p>
            <a:pPr algn="r">
              <a:spcAft>
                <a:spcPts val="200"/>
              </a:spcAft>
            </a:pPr>
            <a:r>
              <a:rPr sz="1200" b="0">
                <a:solidFill>
                  <a:srgbClr val="888888"/>
                </a:solidFill>
                <a:latin typeface="Arial"/>
              </a:rPr>
              <a:t>2</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2023-05-30T01:56:36Z</dcterms:created>
  <dc:creator>Nitsu</dc:creator>
  <dc:title>Room / Path Contrastive Learning</dc:title>
  <dc:subject>CTF estimator: paired views, room loss and path loss</dc:subject>
</cp:coreProperties>
</file>
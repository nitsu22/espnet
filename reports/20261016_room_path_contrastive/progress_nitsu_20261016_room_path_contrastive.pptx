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hPDjuTLT1/Z/lH1LkHQURQLaHX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7857EC-8D50-4316-8B8B-107264D61117}">
  <a:tblStyle styleId="{3F7857EC-8D50-4316-8B8B-107264D6111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3422BEC9-E013-45ED-BE18-4B41DF18F57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2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diagram follows the user screenshot (factorized model ②). It represents the pooled BiMamba room/path contrastive implementation, not the earlier TF-Locoformer RT60-supervised model. Room code is shared by two path-specific decoding branches, with shared decoder weights. The two views reuse the same room, microphone, source positions and RIR pair; the second view selects two speakers different from the originals and each other, with different speech. Projection heads are auxiliary, used only for contrastive training; CTF decoding uses unprojected codes. No RT60 regression label is used by these contrastive losses. Room code is not guaranteed to encode only physical room properties.</a:t>
            </a:r>
          </a:p>
        </p:txBody>
      </p:sp>
      <p:sp>
        <p:nvSpPr>
          <p:cNvPr id="90" name="Google Shape;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fbc2b36df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Exact loss: symmetric NT-Xent / InfoNCE. Each anchor has one positive, the same identity in the other view. All self similarities are excluded. Similarity is cosine after per-frequency LayerNorm -&gt; Linear64/64 -&gt; SiLU -&gt; Linear64/32, flattening frequency and feature axes and L2 normalization. Temperature 0.1. Room grouping: one global group with batch items as identities; positive is the same item across views, negatives are both views of every other batch item (2(B-1) negatives). Each item is a fixed room/microphone/RIR-pair condition, so this does not impose invariance to changed source positions. Path grouping: separate group per item, two physical paths as identities; one positive is the same path in the other view, two negatives are the other path in both views. Paths from unrelated items are excluded. Both path-2 anchors also have a positive across views (not all symmetric links are drawn). Independent CTF-only PIT in each view aligns predicted paths to reference RIR order. Contrastive path features are taken before adding slot embeddings. Total loss is the mean of the two Sweep v2 PIT losses + 0.01 room loss + 0.01 path loss. Room-only/path-only/control set the corresponding weights to zero. Batch size 2 gives four input waveforms, two room negatives per anchor and two path negatives per anchor. Validation uses primary-view Sweep loss without contrastive terms.</a:t>
            </a:r>
          </a:p>
        </p:txBody>
      </p:sp>
      <p:sp>
        <p:nvSpPr>
          <p:cNvPr id="104" name="Google Shape;104;g3cfbc2b36df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スライド" type="title">
  <p:cSld name="TITLE">
    <p:spTree>
      <p:nvGrpSpPr>
        <p:cNvPr id="15" name="Shape 15"/>
        <p:cNvGrpSpPr/>
        <p:nvPr/>
      </p:nvGrpSpPr>
      <p:grpSpPr>
        <a:xfrm>
          <a:off x="0" y="0"/>
          <a:ext cx="0" cy="0"/>
          <a:chOff x="0" y="0"/>
          <a:chExt cx="0" cy="0"/>
        </a:xfrm>
      </p:grpSpPr>
      <p:sp>
        <p:nvSpPr>
          <p:cNvPr id="16" name="Google Shape;16;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type="obj">
  <p:cSld name="OBJECT">
    <p:spTree>
      <p:nvGrpSpPr>
        <p:cNvPr id="21" name="Shape 21"/>
        <p:cNvGrpSpPr/>
        <p:nvPr/>
      </p:nvGrpSpPr>
      <p:grpSpPr>
        <a:xfrm>
          <a:off x="0" y="0"/>
          <a:ext cx="0" cy="0"/>
          <a:chOff x="0" y="0"/>
          <a:chExt cx="0" cy="0"/>
        </a:xfrm>
      </p:grpSpPr>
      <p:sp>
        <p:nvSpPr>
          <p:cNvPr id="22" name="Google Shape;2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g27a0e24568b_0_106"/>
          <p:cNvSpPr txBox="1"/>
          <p:nvPr>
            <p:ph type="title"/>
          </p:nvPr>
        </p:nvSpPr>
        <p:spPr>
          <a:xfrm>
            <a:off x="415600" y="593367"/>
            <a:ext cx="11360700" cy="763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g27a0e24568b_0_106"/>
          <p:cNvSpPr txBox="1"/>
          <p:nvPr>
            <p:ph idx="1" type="body"/>
          </p:nvPr>
        </p:nvSpPr>
        <p:spPr>
          <a:xfrm>
            <a:off x="415600" y="1536633"/>
            <a:ext cx="11360700" cy="4555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SzPts val="2800"/>
              <a:buChar char="•"/>
              <a:defRPr/>
            </a:lvl1pPr>
            <a:lvl2pPr indent="-381000" lvl="1" marL="914400" algn="l">
              <a:lnSpc>
                <a:spcPct val="90000"/>
              </a:lnSpc>
              <a:spcBef>
                <a:spcPts val="500"/>
              </a:spcBef>
              <a:spcAft>
                <a:spcPts val="0"/>
              </a:spcAft>
              <a:buSzPts val="2400"/>
              <a:buChar char="•"/>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30" name="Google Shape;30;g27a0e24568b_0_106"/>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 type="secHead">
  <p:cSld name="SECTION_HEADER">
    <p:spTree>
      <p:nvGrpSpPr>
        <p:cNvPr id="31" name="Shape 31"/>
        <p:cNvGrpSpPr/>
        <p:nvPr/>
      </p:nvGrpSpPr>
      <p:grpSpPr>
        <a:xfrm>
          <a:off x="0" y="0"/>
          <a:ext cx="0" cy="0"/>
          <a:chOff x="0" y="0"/>
          <a:chExt cx="0" cy="0"/>
        </a:xfrm>
      </p:grpSpPr>
      <p:sp>
        <p:nvSpPr>
          <p:cNvPr id="32" name="Google Shape;32;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つのコンテンツ" type="twoObj">
  <p:cSld name="TWO_OBJECTS">
    <p:spTree>
      <p:nvGrpSpPr>
        <p:cNvPr id="37" name="Shape 37"/>
        <p:cNvGrpSpPr/>
        <p:nvPr/>
      </p:nvGrpSpPr>
      <p:grpSpPr>
        <a:xfrm>
          <a:off x="0" y="0"/>
          <a:ext cx="0" cy="0"/>
          <a:chOff x="0" y="0"/>
          <a:chExt cx="0" cy="0"/>
        </a:xfrm>
      </p:grpSpPr>
      <p:sp>
        <p:nvSpPr>
          <p:cNvPr id="38" name="Google Shape;3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44" name="Shape 44"/>
        <p:cNvGrpSpPr/>
        <p:nvPr/>
      </p:nvGrpSpPr>
      <p:grpSpPr>
        <a:xfrm>
          <a:off x="0" y="0"/>
          <a:ext cx="0" cy="0"/>
          <a:chOff x="0" y="0"/>
          <a:chExt cx="0" cy="0"/>
        </a:xfrm>
      </p:grpSpPr>
      <p:sp>
        <p:nvSpPr>
          <p:cNvPr id="45" name="Google Shape;45;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のみ" type="titleOnly">
  <p:cSld name="TITLE_ONLY">
    <p:spTree>
      <p:nvGrpSpPr>
        <p:cNvPr id="53" name="Shape 53"/>
        <p:cNvGrpSpPr/>
        <p:nvPr/>
      </p:nvGrpSpPr>
      <p:grpSpPr>
        <a:xfrm>
          <a:off x="0" y="0"/>
          <a:ext cx="0" cy="0"/>
          <a:chOff x="0" y="0"/>
          <a:chExt cx="0" cy="0"/>
        </a:xfrm>
      </p:grpSpPr>
      <p:sp>
        <p:nvSpPr>
          <p:cNvPr id="54" name="Google Shape;5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白紙" type="blank">
  <p:cSld name="BLANK">
    <p:spTree>
      <p:nvGrpSpPr>
        <p:cNvPr id="58" name="Shape 58"/>
        <p:cNvGrpSpPr/>
        <p:nvPr/>
      </p:nvGrpSpPr>
      <p:grpSpPr>
        <a:xfrm>
          <a:off x="0" y="0"/>
          <a:ext cx="0" cy="0"/>
          <a:chOff x="0" y="0"/>
          <a:chExt cx="0" cy="0"/>
        </a:xfrm>
      </p:grpSpPr>
      <p:sp>
        <p:nvSpPr>
          <p:cNvPr id="59" name="Google Shape;59;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コンテンツ" type="objTx">
  <p:cSld name="OBJECT_WITH_CAPTION_TEXT">
    <p:spTree>
      <p:nvGrpSpPr>
        <p:cNvPr id="62" name="Shape 62"/>
        <p:cNvGrpSpPr/>
        <p:nvPr/>
      </p:nvGrpSpPr>
      <p:grpSpPr>
        <a:xfrm>
          <a:off x="0" y="0"/>
          <a:ext cx="0" cy="0"/>
          <a:chOff x="0" y="0"/>
          <a:chExt cx="0" cy="0"/>
        </a:xfrm>
      </p:grpSpPr>
      <p:sp>
        <p:nvSpPr>
          <p:cNvPr id="63" name="Google Shape;63;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図" type="picTx">
  <p:cSld name="PICTURE_WITH_CAPTION_TEXT">
    <p:spTree>
      <p:nvGrpSpPr>
        <p:cNvPr id="69" name="Shape 69"/>
        <p:cNvGrpSpPr/>
        <p:nvPr/>
      </p:nvGrpSpPr>
      <p:grpSpPr>
        <a:xfrm>
          <a:off x="0" y="0"/>
          <a:ext cx="0" cy="0"/>
          <a:chOff x="0" y="0"/>
          <a:chExt cx="0" cy="0"/>
        </a:xfrm>
      </p:grpSpPr>
      <p:sp>
        <p:nvSpPr>
          <p:cNvPr id="70" name="Google Shape;70;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5"/>
          <p:cNvSpPr/>
          <p:nvPr>
            <p:ph idx="2" type="pic"/>
          </p:nvPr>
        </p:nvSpPr>
        <p:spPr>
          <a:xfrm>
            <a:off x="5183188" y="987425"/>
            <a:ext cx="6172200" cy="4873625"/>
          </a:xfrm>
          <a:prstGeom prst="rect">
            <a:avLst/>
          </a:prstGeom>
          <a:noFill/>
          <a:ln>
            <a:noFill/>
          </a:ln>
        </p:spPr>
      </p:sp>
      <p:sp>
        <p:nvSpPr>
          <p:cNvPr id="72" name="Google Shape;72;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縦書きテキスト" type="vertTx">
  <p:cSld name="VERTICAL_TEXT">
    <p:spTree>
      <p:nvGrpSpPr>
        <p:cNvPr id="76" name="Shape 76"/>
        <p:cNvGrpSpPr/>
        <p:nvPr/>
      </p:nvGrpSpPr>
      <p:grpSpPr>
        <a:xfrm>
          <a:off x="0" y="0"/>
          <a:ext cx="0" cy="0"/>
          <a:chOff x="0" y="0"/>
          <a:chExt cx="0" cy="0"/>
        </a:xfrm>
      </p:grpSpPr>
      <p:sp>
        <p:nvSpPr>
          <p:cNvPr id="77" name="Google Shape;7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縦書きタイトルと&#10;縦書きテキスト" type="vertTitleAndTx">
  <p:cSld name="VERTICAL_TITLE_AND_VERTICAL_TEXT">
    <p:spTree>
      <p:nvGrpSpPr>
        <p:cNvPr id="82" name="Shape 82"/>
        <p:cNvGrpSpPr/>
        <p:nvPr/>
      </p:nvGrpSpPr>
      <p:grpSpPr>
        <a:xfrm>
          <a:off x="0" y="0"/>
          <a:ext cx="0" cy="0"/>
          <a:chOff x="0" y="0"/>
          <a:chExt cx="0" cy="0"/>
        </a:xfrm>
      </p:grpSpPr>
      <p:sp>
        <p:nvSpPr>
          <p:cNvPr id="83" name="Google Shape;83;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a:effectLst/>
      </p:bgPr>
    </p:bg>
    <p:spTree>
      <p:nvGrpSpPr>
        <p:cNvPr id="91" name="Shape 91"/>
        <p:cNvGrpSpPr/>
        <p:nvPr/>
      </p:nvGrpSpPr>
      <p:grpSpPr>
        <a:xfrm>
          <a:off x="0" y="0"/>
          <a:ext cx="0" cy="0"/>
          <a:chOff x="0" y="0"/>
          <a:chExt cx="0" cy="0"/>
        </a:xfrm>
      </p:grpSpPr>
      <p:sp>
        <p:nvSpPr>
          <p:cNvPr id="92" name="TextBox 91"/>
          <p:cNvSpPr txBox="1"/>
          <p:nvPr/>
        </p:nvSpPr>
        <p:spPr>
          <a:xfrm>
            <a:off x="347472" y="512064"/>
            <a:ext cx="11430000" cy="594360"/>
          </a:xfrm>
          <a:prstGeom prst="rect">
            <a:avLst/>
          </a:prstGeom>
          <a:noFill/>
        </p:spPr>
        <p:txBody>
          <a:bodyPr wrap="square" lIns="22860" rIns="22860" tIns="13716" bIns="13716">
            <a:spAutoFit/>
          </a:bodyPr>
          <a:lstStyle/>
          <a:p>
            <a:pPr algn="l">
              <a:spcAft>
                <a:spcPts val="300"/>
              </a:spcAft>
            </a:pPr>
            <a:r>
              <a:rPr sz="3600" b="0">
                <a:solidFill>
                  <a:srgbClr val="000000"/>
                </a:solidFill>
                <a:latin typeface="Arial"/>
              </a:rPr>
              <a:t>CTF(RIR) Estimator: Room / Path Learning</a:t>
            </a:r>
          </a:p>
        </p:txBody>
      </p:sp>
      <p:sp>
        <p:nvSpPr>
          <p:cNvPr id="93" name="TextBox 92"/>
          <p:cNvSpPr txBox="1"/>
          <p:nvPr/>
        </p:nvSpPr>
        <p:spPr>
          <a:xfrm>
            <a:off x="10835640" y="6409944"/>
            <a:ext cx="521207" cy="246888"/>
          </a:xfrm>
          <a:prstGeom prst="rect">
            <a:avLst/>
          </a:prstGeom>
          <a:noFill/>
        </p:spPr>
        <p:txBody>
          <a:bodyPr wrap="square" lIns="22860" rIns="22860" tIns="13716" bIns="13716">
            <a:spAutoFit/>
          </a:bodyPr>
          <a:lstStyle/>
          <a:p>
            <a:pPr algn="r">
              <a:spcAft>
                <a:spcPts val="300"/>
              </a:spcAft>
            </a:pPr>
            <a:r>
              <a:rPr sz="1200" b="0">
                <a:solidFill>
                  <a:srgbClr val="888888"/>
                </a:solidFill>
                <a:latin typeface="Arial"/>
              </a:rPr>
              <a:t>1</a:t>
            </a:r>
          </a:p>
        </p:txBody>
      </p:sp>
      <p:sp>
        <p:nvSpPr>
          <p:cNvPr id="94" name="TextBox 93"/>
          <p:cNvSpPr txBox="1"/>
          <p:nvPr/>
        </p:nvSpPr>
        <p:spPr>
          <a:xfrm>
            <a:off x="585216" y="1280160"/>
            <a:ext cx="10972800" cy="438912"/>
          </a:xfrm>
          <a:prstGeom prst="rect">
            <a:avLst/>
          </a:prstGeom>
          <a:noFill/>
        </p:spPr>
        <p:txBody>
          <a:bodyPr wrap="square" lIns="22860" rIns="22860" tIns="13716" bIns="13716">
            <a:spAutoFit/>
          </a:bodyPr>
          <a:lstStyle/>
          <a:p>
            <a:pPr algn="l">
              <a:spcAft>
                <a:spcPts val="300"/>
              </a:spcAft>
            </a:pPr>
            <a:r>
              <a:rPr sz="2200" b="0">
                <a:solidFill>
                  <a:srgbClr val="000000"/>
                </a:solidFill>
                <a:latin typeface="Arial"/>
              </a:rPr>
              <a:t>Learn acoustic features that remain consistent when speakers and utterances change.</a:t>
            </a:r>
          </a:p>
        </p:txBody>
      </p:sp>
      <p:sp>
        <p:nvSpPr>
          <p:cNvPr id="95" name="TextBox 94"/>
          <p:cNvSpPr txBox="1"/>
          <p:nvPr/>
        </p:nvSpPr>
        <p:spPr>
          <a:xfrm>
            <a:off x="576072" y="2560320"/>
            <a:ext cx="1188720" cy="868680"/>
          </a:xfrm>
          <a:prstGeom prst="rect">
            <a:avLst/>
          </a:prstGeom>
          <a:noFill/>
        </p:spPr>
        <p:txBody>
          <a:bodyPr wrap="square" lIns="22860" rIns="22860" tIns="13716" bIns="13716">
            <a:spAutoFit/>
          </a:bodyPr>
          <a:lstStyle/>
          <a:p>
            <a:pPr algn="ctr">
              <a:spcAft>
                <a:spcPts val="300"/>
              </a:spcAft>
            </a:pPr>
            <a:r>
              <a:rPr sz="2000" b="0">
                <a:solidFill>
                  <a:srgbClr val="000000"/>
                </a:solidFill>
                <a:latin typeface="Arial"/>
              </a:rPr>
              <a:t>Mixture</a:t>
            </a:r>
          </a:p>
          <a:p>
            <a:pPr algn="ctr">
              <a:spcAft>
                <a:spcPts val="300"/>
              </a:spcAft>
            </a:pPr>
            <a:r>
              <a:rPr sz="2000" b="0">
                <a:solidFill>
                  <a:srgbClr val="000000"/>
                </a:solidFill>
                <a:latin typeface="Arial"/>
              </a:rPr>
              <a:t>(spk1 + spk2)</a:t>
            </a:r>
          </a:p>
        </p:txBody>
      </p:sp>
      <p:sp>
        <p:nvSpPr>
          <p:cNvPr id="96" name="Rounded Rectangle 95"/>
          <p:cNvSpPr/>
          <p:nvPr/>
        </p:nvSpPr>
        <p:spPr>
          <a:xfrm>
            <a:off x="1810512" y="2039112"/>
            <a:ext cx="1335024" cy="2240280"/>
          </a:xfrm>
          <a:prstGeom prst="roundRect">
            <a:avLst>
              <a:gd name="adj" fmla="val 13000"/>
            </a:avLst>
          </a:prstGeom>
          <a:solidFill>
            <a:srgbClr val="F3F3F3"/>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2200" b="1">
                <a:solidFill>
                  <a:srgbClr val="000000"/>
                </a:solidFill>
                <a:latin typeface="Arial"/>
              </a:rPr>
              <a:t>Encoder</a:t>
            </a:r>
          </a:p>
        </p:txBody>
      </p:sp>
      <p:cxnSp>
        <p:nvCxnSpPr>
          <p:cNvPr id="97" name="Connector 96"/>
          <p:cNvCxnSpPr/>
          <p:nvPr/>
        </p:nvCxnSpPr>
        <p:spPr>
          <a:xfrm>
            <a:off x="1645920" y="3154680"/>
            <a:ext cx="164592" cy="0"/>
          </a:xfrm>
          <a:prstGeom prst="line">
            <a:avLst/>
          </a:prstGeom>
          <a:ln w="22860">
            <a:solidFill>
              <a:srgbClr val="44546A"/>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3145536" y="3154680"/>
            <a:ext cx="283464" cy="0"/>
          </a:xfrm>
          <a:prstGeom prst="line">
            <a:avLst/>
          </a:prstGeom>
          <a:ln w="22860">
            <a:solidFill>
              <a:srgbClr val="44546A"/>
            </a:solidFill>
          </a:ln>
          <a:effectLst/>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3429000" y="2286000"/>
            <a:ext cx="0" cy="1737360"/>
          </a:xfrm>
          <a:prstGeom prst="line">
            <a:avLst/>
          </a:prstGeom>
          <a:ln w="22860">
            <a:solidFill>
              <a:srgbClr val="44546A"/>
            </a:solidFill>
          </a:ln>
          <a:effectLst/>
        </p:spPr>
        <p:style>
          <a:lnRef idx="2">
            <a:schemeClr val="accent1"/>
          </a:lnRef>
          <a:fillRef idx="0">
            <a:schemeClr val="accent1"/>
          </a:fillRef>
          <a:effectRef idx="1">
            <a:schemeClr val="accent1"/>
          </a:effectRef>
          <a:fontRef idx="minor">
            <a:schemeClr val="tx1"/>
          </a:fontRef>
        </p:style>
      </p:cxnSp>
      <p:sp>
        <p:nvSpPr>
          <p:cNvPr id="100" name="Rectangle 99"/>
          <p:cNvSpPr/>
          <p:nvPr/>
        </p:nvSpPr>
        <p:spPr>
          <a:xfrm>
            <a:off x="3749039" y="2002536"/>
            <a:ext cx="2423160" cy="566928"/>
          </a:xfrm>
          <a:prstGeom prst="rect">
            <a:avLst/>
          </a:prstGeom>
          <a:solidFill>
            <a:srgbClr val="FCE5CD"/>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2300" b="1">
                <a:solidFill>
                  <a:srgbClr val="000000"/>
                </a:solidFill>
                <a:latin typeface="Arial"/>
              </a:rPr>
              <a:t>Path 1 emb</a:t>
            </a:r>
          </a:p>
        </p:txBody>
      </p:sp>
      <p:cxnSp>
        <p:nvCxnSpPr>
          <p:cNvPr id="101" name="Connector 100"/>
          <p:cNvCxnSpPr/>
          <p:nvPr/>
        </p:nvCxnSpPr>
        <p:spPr>
          <a:xfrm>
            <a:off x="3429000" y="2286000"/>
            <a:ext cx="320039" cy="0"/>
          </a:xfrm>
          <a:prstGeom prst="line">
            <a:avLst/>
          </a:prstGeom>
          <a:ln w="22860">
            <a:solidFill>
              <a:srgbClr val="44546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02" name="Rectangle 101"/>
          <p:cNvSpPr/>
          <p:nvPr/>
        </p:nvSpPr>
        <p:spPr>
          <a:xfrm>
            <a:off x="3749039" y="2871216"/>
            <a:ext cx="2423160" cy="566928"/>
          </a:xfrm>
          <a:prstGeom prst="rect">
            <a:avLst/>
          </a:prstGeom>
          <a:solidFill>
            <a:srgbClr val="D9EAD3"/>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2300" b="1">
                <a:solidFill>
                  <a:srgbClr val="000000"/>
                </a:solidFill>
                <a:latin typeface="Arial"/>
              </a:rPr>
              <a:t>Room emb</a:t>
            </a:r>
          </a:p>
        </p:txBody>
      </p:sp>
      <p:cxnSp>
        <p:nvCxnSpPr>
          <p:cNvPr id="103" name="Connector 102"/>
          <p:cNvCxnSpPr/>
          <p:nvPr/>
        </p:nvCxnSpPr>
        <p:spPr>
          <a:xfrm>
            <a:off x="3429000" y="3154680"/>
            <a:ext cx="320039" cy="0"/>
          </a:xfrm>
          <a:prstGeom prst="line">
            <a:avLst/>
          </a:prstGeom>
          <a:ln w="22860">
            <a:solidFill>
              <a:srgbClr val="44546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3749039" y="3739896"/>
            <a:ext cx="2423160" cy="566928"/>
          </a:xfrm>
          <a:prstGeom prst="rect">
            <a:avLst/>
          </a:prstGeom>
          <a:solidFill>
            <a:srgbClr val="FFF2CC"/>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2300" b="1">
                <a:solidFill>
                  <a:srgbClr val="000000"/>
                </a:solidFill>
                <a:latin typeface="Arial"/>
              </a:rPr>
              <a:t>Path 2 emb</a:t>
            </a:r>
          </a:p>
        </p:txBody>
      </p:sp>
      <p:cxnSp>
        <p:nvCxnSpPr>
          <p:cNvPr id="105" name="Connector 104"/>
          <p:cNvCxnSpPr/>
          <p:nvPr/>
        </p:nvCxnSpPr>
        <p:spPr>
          <a:xfrm>
            <a:off x="3429000" y="4023359"/>
            <a:ext cx="320039" cy="0"/>
          </a:xfrm>
          <a:prstGeom prst="line">
            <a:avLst/>
          </a:prstGeom>
          <a:ln w="22860">
            <a:solidFill>
              <a:srgbClr val="44546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06" name="Rounded Rectangle 105"/>
          <p:cNvSpPr/>
          <p:nvPr/>
        </p:nvSpPr>
        <p:spPr>
          <a:xfrm>
            <a:off x="7726679" y="1865376"/>
            <a:ext cx="1335024" cy="1280160"/>
          </a:xfrm>
          <a:prstGeom prst="roundRect">
            <a:avLst>
              <a:gd name="adj" fmla="val 13000"/>
            </a:avLst>
          </a:prstGeom>
          <a:solidFill>
            <a:srgbClr val="F3F3F3"/>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2200" b="1">
                <a:solidFill>
                  <a:srgbClr val="000000"/>
                </a:solidFill>
                <a:latin typeface="Arial"/>
              </a:rPr>
              <a:t>Decoder</a:t>
            </a:r>
          </a:p>
        </p:txBody>
      </p:sp>
      <p:sp>
        <p:nvSpPr>
          <p:cNvPr id="107" name="Rounded Rectangle 106"/>
          <p:cNvSpPr/>
          <p:nvPr/>
        </p:nvSpPr>
        <p:spPr>
          <a:xfrm>
            <a:off x="7726679" y="3602736"/>
            <a:ext cx="1335024" cy="1280160"/>
          </a:xfrm>
          <a:prstGeom prst="roundRect">
            <a:avLst>
              <a:gd name="adj" fmla="val 13000"/>
            </a:avLst>
          </a:prstGeom>
          <a:solidFill>
            <a:srgbClr val="F3F3F3"/>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2200" b="1">
                <a:solidFill>
                  <a:srgbClr val="000000"/>
                </a:solidFill>
                <a:latin typeface="Arial"/>
              </a:rPr>
              <a:t>Decoder</a:t>
            </a:r>
          </a:p>
        </p:txBody>
      </p:sp>
      <p:cxnSp>
        <p:nvCxnSpPr>
          <p:cNvPr id="108" name="Connector 107"/>
          <p:cNvCxnSpPr/>
          <p:nvPr/>
        </p:nvCxnSpPr>
        <p:spPr>
          <a:xfrm>
            <a:off x="6172200" y="2286000"/>
            <a:ext cx="1554479" cy="0"/>
          </a:xfrm>
          <a:prstGeom prst="line">
            <a:avLst/>
          </a:prstGeom>
          <a:ln w="22860">
            <a:solidFill>
              <a:srgbClr val="44546A"/>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6172200" y="4023360"/>
            <a:ext cx="1554479" cy="0"/>
          </a:xfrm>
          <a:prstGeom prst="line">
            <a:avLst/>
          </a:prstGeom>
          <a:ln w="22860">
            <a:solidFill>
              <a:srgbClr val="44546A"/>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6172200" y="3154680"/>
            <a:ext cx="905256" cy="0"/>
          </a:xfrm>
          <a:prstGeom prst="line">
            <a:avLst/>
          </a:prstGeom>
          <a:ln w="22860">
            <a:solidFill>
              <a:srgbClr val="44546A"/>
            </a:solidFill>
          </a:ln>
          <a:effectLst/>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7077456" y="2688336"/>
            <a:ext cx="0" cy="1801368"/>
          </a:xfrm>
          <a:prstGeom prst="line">
            <a:avLst/>
          </a:prstGeom>
          <a:ln w="22860">
            <a:solidFill>
              <a:srgbClr val="44546A"/>
            </a:solidFill>
          </a:ln>
          <a:effectLst/>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077456" y="2688336"/>
            <a:ext cx="649223" cy="0"/>
          </a:xfrm>
          <a:prstGeom prst="line">
            <a:avLst/>
          </a:prstGeom>
          <a:ln w="22860">
            <a:solidFill>
              <a:srgbClr val="44546A"/>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077456" y="4489704"/>
            <a:ext cx="649223" cy="0"/>
          </a:xfrm>
          <a:prstGeom prst="line">
            <a:avLst/>
          </a:prstGeom>
          <a:ln w="22860">
            <a:solidFill>
              <a:srgbClr val="44546A"/>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061704" y="2505456"/>
            <a:ext cx="429768" cy="0"/>
          </a:xfrm>
          <a:prstGeom prst="line">
            <a:avLst/>
          </a:prstGeom>
          <a:ln w="22860">
            <a:solidFill>
              <a:srgbClr val="44546A"/>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9061704" y="4242816"/>
            <a:ext cx="429768" cy="0"/>
          </a:xfrm>
          <a:prstGeom prst="line">
            <a:avLst/>
          </a:prstGeom>
          <a:ln w="22860">
            <a:solidFill>
              <a:srgbClr val="44546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610344" y="2240280"/>
            <a:ext cx="1645920" cy="457200"/>
          </a:xfrm>
          <a:prstGeom prst="rect">
            <a:avLst/>
          </a:prstGeom>
          <a:noFill/>
        </p:spPr>
        <p:txBody>
          <a:bodyPr wrap="square" lIns="22860" rIns="22860" tIns="13716" bIns="13716">
            <a:spAutoFit/>
          </a:bodyPr>
          <a:lstStyle/>
          <a:p>
            <a:pPr algn="l">
              <a:spcAft>
                <a:spcPts val="300"/>
              </a:spcAft>
            </a:pPr>
            <a:r>
              <a:rPr sz="2600" b="1">
                <a:solidFill>
                  <a:srgbClr val="000000"/>
                </a:solidFill>
                <a:latin typeface="Arial"/>
              </a:rPr>
              <a:t>CTF 1</a:t>
            </a:r>
          </a:p>
        </p:txBody>
      </p:sp>
      <p:sp>
        <p:nvSpPr>
          <p:cNvPr id="117" name="TextBox 116"/>
          <p:cNvSpPr txBox="1"/>
          <p:nvPr/>
        </p:nvSpPr>
        <p:spPr>
          <a:xfrm>
            <a:off x="9610344" y="3977639"/>
            <a:ext cx="1645920" cy="457200"/>
          </a:xfrm>
          <a:prstGeom prst="rect">
            <a:avLst/>
          </a:prstGeom>
          <a:noFill/>
        </p:spPr>
        <p:txBody>
          <a:bodyPr wrap="square" lIns="22860" rIns="22860" tIns="13716" bIns="13716">
            <a:spAutoFit/>
          </a:bodyPr>
          <a:lstStyle/>
          <a:p>
            <a:pPr algn="l">
              <a:spcAft>
                <a:spcPts val="300"/>
              </a:spcAft>
            </a:pPr>
            <a:r>
              <a:rPr sz="2600" b="1">
                <a:solidFill>
                  <a:srgbClr val="000000"/>
                </a:solidFill>
                <a:latin typeface="Arial"/>
              </a:rPr>
              <a:t>CTF 2</a:t>
            </a:r>
          </a:p>
        </p:txBody>
      </p:sp>
      <p:sp>
        <p:nvSpPr>
          <p:cNvPr id="118" name="TextBox 117"/>
          <p:cNvSpPr txBox="1"/>
          <p:nvPr/>
        </p:nvSpPr>
        <p:spPr>
          <a:xfrm>
            <a:off x="7296912" y="4965192"/>
            <a:ext cx="2468880" cy="274320"/>
          </a:xfrm>
          <a:prstGeom prst="rect">
            <a:avLst/>
          </a:prstGeom>
          <a:noFill/>
        </p:spPr>
        <p:txBody>
          <a:bodyPr wrap="square" lIns="22860" rIns="22860" tIns="13716" bIns="13716">
            <a:spAutoFit/>
          </a:bodyPr>
          <a:lstStyle/>
          <a:p>
            <a:pPr algn="ctr">
              <a:spcAft>
                <a:spcPts val="300"/>
              </a:spcAft>
            </a:pPr>
            <a:r>
              <a:rPr sz="1500" b="0">
                <a:solidFill>
                  <a:srgbClr val="666666"/>
                </a:solidFill>
                <a:latin typeface="Arial"/>
              </a:rPr>
              <a:t>Shared decoder weights</a:t>
            </a:r>
          </a:p>
        </p:txBody>
      </p:sp>
      <p:sp>
        <p:nvSpPr>
          <p:cNvPr id="119" name="TextBox 118"/>
          <p:cNvSpPr txBox="1"/>
          <p:nvPr/>
        </p:nvSpPr>
        <p:spPr>
          <a:xfrm>
            <a:off x="603504" y="5001768"/>
            <a:ext cx="6355080" cy="384048"/>
          </a:xfrm>
          <a:prstGeom prst="rect">
            <a:avLst/>
          </a:prstGeom>
          <a:noFill/>
        </p:spPr>
        <p:txBody>
          <a:bodyPr wrap="square" lIns="22860" rIns="22860" tIns="13716" bIns="13716">
            <a:spAutoFit/>
          </a:bodyPr>
          <a:lstStyle/>
          <a:p>
            <a:pPr algn="l">
              <a:spcAft>
                <a:spcPts val="300"/>
              </a:spcAft>
            </a:pPr>
            <a:r>
              <a:rPr sz="2100" b="1">
                <a:solidFill>
                  <a:srgbClr val="000000"/>
                </a:solidFill>
                <a:latin typeface="Arial"/>
              </a:rPr>
              <a:t>Two views → the same encoder and decoder</a:t>
            </a:r>
          </a:p>
        </p:txBody>
      </p:sp>
      <p:sp>
        <p:nvSpPr>
          <p:cNvPr id="120" name="Rectangle 119"/>
          <p:cNvSpPr/>
          <p:nvPr/>
        </p:nvSpPr>
        <p:spPr>
          <a:xfrm>
            <a:off x="630936" y="5513832"/>
            <a:ext cx="3072384" cy="539496"/>
          </a:xfrm>
          <a:prstGeom prst="rect">
            <a:avLst/>
          </a:prstGeom>
          <a:solidFill>
            <a:srgbClr val="FFFFFF"/>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1900" b="0">
                <a:solidFill>
                  <a:srgbClr val="000000"/>
                </a:solidFill>
                <a:latin typeface="Arial"/>
              </a:rPr>
              <a:t>View A: original speakers</a:t>
            </a:r>
          </a:p>
        </p:txBody>
      </p:sp>
      <p:sp>
        <p:nvSpPr>
          <p:cNvPr id="121" name="Rectangle 120"/>
          <p:cNvSpPr/>
          <p:nvPr/>
        </p:nvSpPr>
        <p:spPr>
          <a:xfrm>
            <a:off x="4014215" y="5513832"/>
            <a:ext cx="3127248" cy="539496"/>
          </a:xfrm>
          <a:prstGeom prst="rect">
            <a:avLst/>
          </a:prstGeom>
          <a:solidFill>
            <a:srgbClr val="FFFFFF"/>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1900" b="0">
                <a:solidFill>
                  <a:srgbClr val="000000"/>
                </a:solidFill>
                <a:latin typeface="Arial"/>
              </a:rPr>
              <a:t>View B: different speakers</a:t>
            </a:r>
          </a:p>
        </p:txBody>
      </p:sp>
      <p:sp>
        <p:nvSpPr>
          <p:cNvPr id="122" name="TextBox 121"/>
          <p:cNvSpPr txBox="1"/>
          <p:nvPr/>
        </p:nvSpPr>
        <p:spPr>
          <a:xfrm>
            <a:off x="7452360" y="5486400"/>
            <a:ext cx="4224528" cy="704088"/>
          </a:xfrm>
          <a:prstGeom prst="rect">
            <a:avLst/>
          </a:prstGeom>
          <a:noFill/>
        </p:spPr>
        <p:txBody>
          <a:bodyPr wrap="square" lIns="22860" rIns="22860" tIns="13716" bIns="13716">
            <a:spAutoFit/>
          </a:bodyPr>
          <a:lstStyle/>
          <a:p>
            <a:pPr algn="l">
              <a:spcAft>
                <a:spcPts val="300"/>
              </a:spcAft>
            </a:pPr>
            <a:r>
              <a:rPr sz="1800" b="0">
                <a:solidFill>
                  <a:srgbClr val="000000"/>
                </a:solidFill>
                <a:latin typeface="Arial"/>
              </a:rPr>
              <a:t>Fixed room, microphone, and RIR pair</a:t>
            </a:r>
          </a:p>
          <a:p>
            <a:pPr algn="l">
              <a:spcAft>
                <a:spcPts val="300"/>
              </a:spcAft>
            </a:pPr>
            <a:r>
              <a:rPr sz="1800" b="0">
                <a:solidFill>
                  <a:srgbClr val="000000"/>
                </a:solidFill>
                <a:latin typeface="Arial"/>
              </a:rPr>
              <a:t>Add Lroom and Lpath during training</a:t>
            </a:r>
          </a:p>
        </p:txBody>
      </p:sp>
      <p:sp>
        <p:nvSpPr>
          <p:cNvPr id="123" name="TextBox 122"/>
          <p:cNvSpPr txBox="1"/>
          <p:nvPr/>
        </p:nvSpPr>
        <p:spPr>
          <a:xfrm>
            <a:off x="603504" y="6327648"/>
            <a:ext cx="10058400" cy="265176"/>
          </a:xfrm>
          <a:prstGeom prst="rect">
            <a:avLst/>
          </a:prstGeom>
          <a:noFill/>
        </p:spPr>
        <p:txBody>
          <a:bodyPr wrap="square" lIns="22860" rIns="22860" tIns="13716" bIns="13716">
            <a:spAutoFit/>
          </a:bodyPr>
          <a:lstStyle/>
          <a:p>
            <a:pPr algn="l">
              <a:spcAft>
                <a:spcPts val="300"/>
              </a:spcAft>
            </a:pPr>
            <a:r>
              <a:rPr sz="1200" b="0">
                <a:solidFill>
                  <a:srgbClr val="666666"/>
                </a:solidFill>
                <a:latin typeface="Arial"/>
              </a:rPr>
              <a:t>Same physical paths across views; room/path labels denote the feature-sharing structure.</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a:effectLst/>
      </p:bgPr>
    </p:bg>
    <p:spTree>
      <p:nvGrpSpPr>
        <p:cNvPr id="105" name="Shape 105"/>
        <p:cNvGrpSpPr/>
        <p:nvPr/>
      </p:nvGrpSpPr>
      <p:grpSpPr>
        <a:xfrm>
          <a:off x="0" y="0"/>
          <a:ext cx="0" cy="0"/>
          <a:chOff x="0" y="0"/>
          <a:chExt cx="0" cy="0"/>
        </a:xfrm>
      </p:grpSpPr>
      <p:sp>
        <p:nvSpPr>
          <p:cNvPr id="106" name="TextBox 105"/>
          <p:cNvSpPr txBox="1"/>
          <p:nvPr/>
        </p:nvSpPr>
        <p:spPr>
          <a:xfrm>
            <a:off x="347472" y="512064"/>
            <a:ext cx="11430000" cy="594360"/>
          </a:xfrm>
          <a:prstGeom prst="rect">
            <a:avLst/>
          </a:prstGeom>
          <a:noFill/>
        </p:spPr>
        <p:txBody>
          <a:bodyPr wrap="square" lIns="22860" rIns="22860" tIns="13716" bIns="13716">
            <a:spAutoFit/>
          </a:bodyPr>
          <a:lstStyle/>
          <a:p>
            <a:pPr algn="l">
              <a:spcAft>
                <a:spcPts val="300"/>
              </a:spcAft>
            </a:pPr>
            <a:r>
              <a:rPr sz="3600" b="0">
                <a:solidFill>
                  <a:srgbClr val="000000"/>
                </a:solidFill>
                <a:latin typeface="Arial"/>
              </a:rPr>
              <a:t>Contrastive Losses: Lroom and Lpath</a:t>
            </a:r>
          </a:p>
        </p:txBody>
      </p:sp>
      <p:sp>
        <p:nvSpPr>
          <p:cNvPr id="107" name="TextBox 106"/>
          <p:cNvSpPr txBox="1"/>
          <p:nvPr/>
        </p:nvSpPr>
        <p:spPr>
          <a:xfrm>
            <a:off x="10835640" y="6409944"/>
            <a:ext cx="521207" cy="246888"/>
          </a:xfrm>
          <a:prstGeom prst="rect">
            <a:avLst/>
          </a:prstGeom>
          <a:noFill/>
        </p:spPr>
        <p:txBody>
          <a:bodyPr wrap="square" lIns="22860" rIns="22860" tIns="13716" bIns="13716">
            <a:spAutoFit/>
          </a:bodyPr>
          <a:lstStyle/>
          <a:p>
            <a:pPr algn="r">
              <a:spcAft>
                <a:spcPts val="300"/>
              </a:spcAft>
            </a:pPr>
            <a:r>
              <a:rPr sz="1200" b="0">
                <a:solidFill>
                  <a:srgbClr val="888888"/>
                </a:solidFill>
                <a:latin typeface="Arial"/>
              </a:rPr>
              <a:t>2</a:t>
            </a:r>
          </a:p>
        </p:txBody>
      </p:sp>
      <p:sp>
        <p:nvSpPr>
          <p:cNvPr id="108" name="TextBox 107"/>
          <p:cNvSpPr txBox="1"/>
          <p:nvPr/>
        </p:nvSpPr>
        <p:spPr>
          <a:xfrm>
            <a:off x="594360" y="1271016"/>
            <a:ext cx="10972800" cy="384048"/>
          </a:xfrm>
          <a:prstGeom prst="rect">
            <a:avLst/>
          </a:prstGeom>
          <a:noFill/>
        </p:spPr>
        <p:txBody>
          <a:bodyPr wrap="square" lIns="22860" rIns="22860" tIns="13716" bIns="13716">
            <a:spAutoFit/>
          </a:bodyPr>
          <a:lstStyle/>
          <a:p>
            <a:pPr algn="l">
              <a:spcAft>
                <a:spcPts val="300"/>
              </a:spcAft>
            </a:pPr>
            <a:r>
              <a:rPr sz="2100" b="0">
                <a:solidFill>
                  <a:srgbClr val="000000"/>
                </a:solidFill>
                <a:latin typeface="Arial"/>
              </a:rPr>
              <a:t>Positive: same acoustic condition across views     Negative: a different condition / path</a:t>
            </a:r>
          </a:p>
        </p:txBody>
      </p:sp>
      <p:sp>
        <p:nvSpPr>
          <p:cNvPr id="109" name="TextBox 108"/>
          <p:cNvSpPr txBox="1"/>
          <p:nvPr/>
        </p:nvSpPr>
        <p:spPr>
          <a:xfrm>
            <a:off x="658368" y="1847088"/>
            <a:ext cx="5166360" cy="356616"/>
          </a:xfrm>
          <a:prstGeom prst="rect">
            <a:avLst/>
          </a:prstGeom>
          <a:noFill/>
        </p:spPr>
        <p:txBody>
          <a:bodyPr wrap="square" lIns="22860" rIns="22860" tIns="13716" bIns="13716">
            <a:spAutoFit/>
          </a:bodyPr>
          <a:lstStyle/>
          <a:p>
            <a:pPr algn="l">
              <a:spcAft>
                <a:spcPts val="300"/>
              </a:spcAft>
            </a:pPr>
            <a:r>
              <a:rPr sz="2400" b="1">
                <a:solidFill>
                  <a:srgbClr val="000000"/>
                </a:solidFill>
                <a:latin typeface="Arial"/>
              </a:rPr>
              <a:t>Lroom: shared room features</a:t>
            </a:r>
          </a:p>
        </p:txBody>
      </p:sp>
      <p:sp>
        <p:nvSpPr>
          <p:cNvPr id="110" name="TextBox 109"/>
          <p:cNvSpPr txBox="1"/>
          <p:nvPr/>
        </p:nvSpPr>
        <p:spPr>
          <a:xfrm>
            <a:off x="6409944" y="1847088"/>
            <a:ext cx="5212080" cy="356616"/>
          </a:xfrm>
          <a:prstGeom prst="rect">
            <a:avLst/>
          </a:prstGeom>
          <a:noFill/>
        </p:spPr>
        <p:txBody>
          <a:bodyPr wrap="square" lIns="22860" rIns="22860" tIns="13716" bIns="13716">
            <a:spAutoFit/>
          </a:bodyPr>
          <a:lstStyle/>
          <a:p>
            <a:pPr algn="l">
              <a:spcAft>
                <a:spcPts val="300"/>
              </a:spcAft>
            </a:pPr>
            <a:r>
              <a:rPr sz="2400" b="1">
                <a:solidFill>
                  <a:srgbClr val="000000"/>
                </a:solidFill>
                <a:latin typeface="Arial"/>
              </a:rPr>
              <a:t>Lpath: path-specific features</a:t>
            </a:r>
          </a:p>
        </p:txBody>
      </p:sp>
      <p:cxnSp>
        <p:nvCxnSpPr>
          <p:cNvPr id="111" name="Connector 110"/>
          <p:cNvCxnSpPr/>
          <p:nvPr/>
        </p:nvCxnSpPr>
        <p:spPr>
          <a:xfrm>
            <a:off x="6089904" y="1892807"/>
            <a:ext cx="0" cy="3483865"/>
          </a:xfrm>
          <a:prstGeom prst="line">
            <a:avLst/>
          </a:prstGeom>
          <a:ln w="12700">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41832" y="2340864"/>
            <a:ext cx="1444752" cy="301752"/>
          </a:xfrm>
          <a:prstGeom prst="rect">
            <a:avLst/>
          </a:prstGeom>
          <a:noFill/>
        </p:spPr>
        <p:txBody>
          <a:bodyPr wrap="square" lIns="22860" rIns="22860" tIns="13716" bIns="13716">
            <a:spAutoFit/>
          </a:bodyPr>
          <a:lstStyle/>
          <a:p>
            <a:pPr algn="ctr">
              <a:spcAft>
                <a:spcPts val="300"/>
              </a:spcAft>
            </a:pPr>
            <a:r>
              <a:rPr sz="1800" b="0">
                <a:solidFill>
                  <a:srgbClr val="000000"/>
                </a:solidFill>
                <a:latin typeface="Arial"/>
              </a:rPr>
              <a:t>View A</a:t>
            </a:r>
          </a:p>
        </p:txBody>
      </p:sp>
      <p:sp>
        <p:nvSpPr>
          <p:cNvPr id="113" name="TextBox 112"/>
          <p:cNvSpPr txBox="1"/>
          <p:nvPr/>
        </p:nvSpPr>
        <p:spPr>
          <a:xfrm>
            <a:off x="3776472" y="2340864"/>
            <a:ext cx="1444752" cy="301752"/>
          </a:xfrm>
          <a:prstGeom prst="rect">
            <a:avLst/>
          </a:prstGeom>
          <a:noFill/>
        </p:spPr>
        <p:txBody>
          <a:bodyPr wrap="square" lIns="22860" rIns="22860" tIns="13716" bIns="13716">
            <a:spAutoFit/>
          </a:bodyPr>
          <a:lstStyle/>
          <a:p>
            <a:pPr algn="ctr">
              <a:spcAft>
                <a:spcPts val="300"/>
              </a:spcAft>
            </a:pPr>
            <a:r>
              <a:rPr sz="1800" b="0">
                <a:solidFill>
                  <a:srgbClr val="000000"/>
                </a:solidFill>
                <a:latin typeface="Arial"/>
              </a:rPr>
              <a:t>View B</a:t>
            </a:r>
          </a:p>
        </p:txBody>
      </p:sp>
      <p:sp>
        <p:nvSpPr>
          <p:cNvPr id="114" name="TextBox 113"/>
          <p:cNvSpPr txBox="1"/>
          <p:nvPr/>
        </p:nvSpPr>
        <p:spPr>
          <a:xfrm>
            <a:off x="6684264" y="2340864"/>
            <a:ext cx="1444752" cy="301752"/>
          </a:xfrm>
          <a:prstGeom prst="rect">
            <a:avLst/>
          </a:prstGeom>
          <a:noFill/>
        </p:spPr>
        <p:txBody>
          <a:bodyPr wrap="square" lIns="22860" rIns="22860" tIns="13716" bIns="13716">
            <a:spAutoFit/>
          </a:bodyPr>
          <a:lstStyle/>
          <a:p>
            <a:pPr algn="ctr">
              <a:spcAft>
                <a:spcPts val="300"/>
              </a:spcAft>
            </a:pPr>
            <a:r>
              <a:rPr sz="1800" b="0">
                <a:solidFill>
                  <a:srgbClr val="000000"/>
                </a:solidFill>
                <a:latin typeface="Arial"/>
              </a:rPr>
              <a:t>View A</a:t>
            </a:r>
          </a:p>
        </p:txBody>
      </p:sp>
      <p:sp>
        <p:nvSpPr>
          <p:cNvPr id="115" name="TextBox 114"/>
          <p:cNvSpPr txBox="1"/>
          <p:nvPr/>
        </p:nvSpPr>
        <p:spPr>
          <a:xfrm>
            <a:off x="9518904" y="2340864"/>
            <a:ext cx="1444752" cy="301752"/>
          </a:xfrm>
          <a:prstGeom prst="rect">
            <a:avLst/>
          </a:prstGeom>
          <a:noFill/>
        </p:spPr>
        <p:txBody>
          <a:bodyPr wrap="square" lIns="22860" rIns="22860" tIns="13716" bIns="13716">
            <a:spAutoFit/>
          </a:bodyPr>
          <a:lstStyle/>
          <a:p>
            <a:pPr algn="ctr">
              <a:spcAft>
                <a:spcPts val="300"/>
              </a:spcAft>
            </a:pPr>
            <a:r>
              <a:rPr sz="1800" b="0">
                <a:solidFill>
                  <a:srgbClr val="000000"/>
                </a:solidFill>
                <a:latin typeface="Arial"/>
              </a:rPr>
              <a:t>View B</a:t>
            </a:r>
          </a:p>
        </p:txBody>
      </p:sp>
      <p:sp>
        <p:nvSpPr>
          <p:cNvPr id="116" name="Rectangle 115"/>
          <p:cNvSpPr/>
          <p:nvPr/>
        </p:nvSpPr>
        <p:spPr>
          <a:xfrm>
            <a:off x="932688" y="2779776"/>
            <a:ext cx="1527048" cy="585216"/>
          </a:xfrm>
          <a:prstGeom prst="rect">
            <a:avLst/>
          </a:prstGeom>
          <a:solidFill>
            <a:srgbClr val="D9EAD3"/>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1800" b="0">
                <a:solidFill>
                  <a:srgbClr val="000000"/>
                </a:solidFill>
                <a:latin typeface="Arial"/>
              </a:rPr>
              <a:t>Condition i</a:t>
            </a:r>
          </a:p>
        </p:txBody>
      </p:sp>
      <p:sp>
        <p:nvSpPr>
          <p:cNvPr id="117" name="Rectangle 116"/>
          <p:cNvSpPr/>
          <p:nvPr/>
        </p:nvSpPr>
        <p:spPr>
          <a:xfrm>
            <a:off x="932688" y="3950208"/>
            <a:ext cx="1527048" cy="585216"/>
          </a:xfrm>
          <a:prstGeom prst="rect">
            <a:avLst/>
          </a:prstGeom>
          <a:solidFill>
            <a:srgbClr val="E7E6E6"/>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1800" b="0">
                <a:solidFill>
                  <a:srgbClr val="000000"/>
                </a:solidFill>
                <a:latin typeface="Arial"/>
              </a:rPr>
              <a:t>Condition j</a:t>
            </a:r>
          </a:p>
        </p:txBody>
      </p:sp>
      <p:sp>
        <p:nvSpPr>
          <p:cNvPr id="118" name="Rectangle 117"/>
          <p:cNvSpPr/>
          <p:nvPr/>
        </p:nvSpPr>
        <p:spPr>
          <a:xfrm>
            <a:off x="3767328" y="2779776"/>
            <a:ext cx="1527048" cy="585216"/>
          </a:xfrm>
          <a:prstGeom prst="rect">
            <a:avLst/>
          </a:prstGeom>
          <a:solidFill>
            <a:srgbClr val="D9EAD3"/>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1800" b="0">
                <a:solidFill>
                  <a:srgbClr val="000000"/>
                </a:solidFill>
                <a:latin typeface="Arial"/>
              </a:rPr>
              <a:t>Condition i</a:t>
            </a:r>
          </a:p>
        </p:txBody>
      </p:sp>
      <p:sp>
        <p:nvSpPr>
          <p:cNvPr id="119" name="Rectangle 118"/>
          <p:cNvSpPr/>
          <p:nvPr/>
        </p:nvSpPr>
        <p:spPr>
          <a:xfrm>
            <a:off x="3767328" y="3950208"/>
            <a:ext cx="1527048" cy="585216"/>
          </a:xfrm>
          <a:prstGeom prst="rect">
            <a:avLst/>
          </a:prstGeom>
          <a:solidFill>
            <a:srgbClr val="E7E6E6"/>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1800" b="0">
                <a:solidFill>
                  <a:srgbClr val="000000"/>
                </a:solidFill>
                <a:latin typeface="Arial"/>
              </a:rPr>
              <a:t>Condition j</a:t>
            </a:r>
          </a:p>
        </p:txBody>
      </p:sp>
      <p:cxnSp>
        <p:nvCxnSpPr>
          <p:cNvPr id="120" name="Connector 119"/>
          <p:cNvCxnSpPr/>
          <p:nvPr/>
        </p:nvCxnSpPr>
        <p:spPr>
          <a:xfrm>
            <a:off x="2459736" y="3072384"/>
            <a:ext cx="1307592" cy="0"/>
          </a:xfrm>
          <a:prstGeom prst="line">
            <a:avLst/>
          </a:prstGeom>
          <a:ln w="27940">
            <a:solidFill>
              <a:srgbClr val="45805A"/>
            </a:solidFill>
            <a:headEnd type="triangle" w="sm" len="sm"/>
            <a:tailEnd type="triangle" w="sm" len="sm"/>
          </a:ln>
          <a:effectLst/>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2487168" y="2679192"/>
            <a:ext cx="1252728" cy="274320"/>
          </a:xfrm>
          <a:prstGeom prst="rect">
            <a:avLst/>
          </a:prstGeom>
          <a:noFill/>
        </p:spPr>
        <p:txBody>
          <a:bodyPr wrap="square" lIns="22860" rIns="22860" tIns="13716" bIns="13716">
            <a:spAutoFit/>
          </a:bodyPr>
          <a:lstStyle/>
          <a:p>
            <a:pPr algn="ctr">
              <a:spcAft>
                <a:spcPts val="300"/>
              </a:spcAft>
            </a:pPr>
            <a:r>
              <a:rPr sz="1400" b="0">
                <a:solidFill>
                  <a:srgbClr val="45805A"/>
                </a:solidFill>
                <a:latin typeface="Arial"/>
              </a:rPr>
              <a:t>pull together</a:t>
            </a:r>
          </a:p>
        </p:txBody>
      </p:sp>
      <p:cxnSp>
        <p:nvCxnSpPr>
          <p:cNvPr id="122" name="Connector 121"/>
          <p:cNvCxnSpPr/>
          <p:nvPr/>
        </p:nvCxnSpPr>
        <p:spPr>
          <a:xfrm>
            <a:off x="1700784" y="3364992"/>
            <a:ext cx="0" cy="585216"/>
          </a:xfrm>
          <a:prstGeom prst="line">
            <a:avLst/>
          </a:prstGeom>
          <a:ln w="22860">
            <a:solidFill>
              <a:srgbClr val="B45B58"/>
            </a:solidFill>
            <a:prstDash val="dash"/>
            <a:headEnd type="triangle" w="sm" len="sm"/>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2459736" y="3364992"/>
            <a:ext cx="1307592" cy="585216"/>
          </a:xfrm>
          <a:prstGeom prst="line">
            <a:avLst/>
          </a:prstGeom>
          <a:ln w="22860">
            <a:solidFill>
              <a:srgbClr val="B45B58"/>
            </a:solidFill>
            <a:prstDash val="dash"/>
            <a:headEnd type="triangle" w="sm" len="sm"/>
            <a:tailEnd type="triangle" w="sm" len="sm"/>
          </a:ln>
          <a:effectLst/>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2240280" y="3602736"/>
            <a:ext cx="1517904" cy="265176"/>
          </a:xfrm>
          <a:prstGeom prst="rect">
            <a:avLst/>
          </a:prstGeom>
          <a:noFill/>
        </p:spPr>
        <p:txBody>
          <a:bodyPr wrap="square" lIns="22860" rIns="22860" tIns="13716" bIns="13716">
            <a:spAutoFit/>
          </a:bodyPr>
          <a:lstStyle/>
          <a:p>
            <a:pPr algn="ctr">
              <a:spcAft>
                <a:spcPts val="300"/>
              </a:spcAft>
            </a:pPr>
            <a:r>
              <a:rPr sz="1400" b="0">
                <a:solidFill>
                  <a:srgbClr val="B45B58"/>
                </a:solidFill>
                <a:latin typeface="Arial"/>
              </a:rPr>
              <a:t>push apart</a:t>
            </a:r>
          </a:p>
        </p:txBody>
      </p:sp>
      <p:sp>
        <p:nvSpPr>
          <p:cNvPr id="125" name="TextBox 124"/>
          <p:cNvSpPr txBox="1"/>
          <p:nvPr/>
        </p:nvSpPr>
        <p:spPr>
          <a:xfrm>
            <a:off x="704088" y="4700016"/>
            <a:ext cx="5074920" cy="676656"/>
          </a:xfrm>
          <a:prstGeom prst="rect">
            <a:avLst/>
          </a:prstGeom>
          <a:noFill/>
        </p:spPr>
        <p:txBody>
          <a:bodyPr wrap="square" lIns="22860" rIns="22860" tIns="13716" bIns="13716">
            <a:spAutoFit/>
          </a:bodyPr>
          <a:lstStyle/>
          <a:p>
            <a:pPr algn="l">
              <a:spcAft>
                <a:spcPts val="300"/>
              </a:spcAft>
            </a:pPr>
            <a:r>
              <a:rPr sz="1800" b="0">
                <a:solidFill>
                  <a:srgbClr val="000000"/>
                </a:solidFill>
                <a:latin typeface="Arial"/>
              </a:rPr>
              <a:t>+ Same fixed RIR pair, different speech</a:t>
            </a:r>
          </a:p>
          <a:p>
            <a:pPr algn="l">
              <a:spcAft>
                <a:spcPts val="300"/>
              </a:spcAft>
            </a:pPr>
            <a:r>
              <a:rPr sz="1800" b="0">
                <a:solidFill>
                  <a:srgbClr val="000000"/>
                </a:solidFill>
                <a:latin typeface="Arial"/>
              </a:rPr>
              <a:t>− Other batch items (both views)</a:t>
            </a:r>
          </a:p>
        </p:txBody>
      </p:sp>
      <p:sp>
        <p:nvSpPr>
          <p:cNvPr id="126" name="Rectangle 125"/>
          <p:cNvSpPr/>
          <p:nvPr/>
        </p:nvSpPr>
        <p:spPr>
          <a:xfrm>
            <a:off x="6675120" y="2779776"/>
            <a:ext cx="1527048" cy="585216"/>
          </a:xfrm>
          <a:prstGeom prst="rect">
            <a:avLst/>
          </a:prstGeom>
          <a:solidFill>
            <a:srgbClr val="FCE5CD"/>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1800" b="0">
                <a:solidFill>
                  <a:srgbClr val="000000"/>
                </a:solidFill>
                <a:latin typeface="Arial"/>
              </a:rPr>
              <a:t>Path 1</a:t>
            </a:r>
          </a:p>
        </p:txBody>
      </p:sp>
      <p:sp>
        <p:nvSpPr>
          <p:cNvPr id="127" name="Rectangle 126"/>
          <p:cNvSpPr/>
          <p:nvPr/>
        </p:nvSpPr>
        <p:spPr>
          <a:xfrm>
            <a:off x="6675120" y="3950208"/>
            <a:ext cx="1527048" cy="585216"/>
          </a:xfrm>
          <a:prstGeom prst="rect">
            <a:avLst/>
          </a:prstGeom>
          <a:solidFill>
            <a:srgbClr val="FFF2CC"/>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1800" b="0">
                <a:solidFill>
                  <a:srgbClr val="000000"/>
                </a:solidFill>
                <a:latin typeface="Arial"/>
              </a:rPr>
              <a:t>Path 2</a:t>
            </a:r>
          </a:p>
        </p:txBody>
      </p:sp>
      <p:sp>
        <p:nvSpPr>
          <p:cNvPr id="128" name="Rectangle 127"/>
          <p:cNvSpPr/>
          <p:nvPr/>
        </p:nvSpPr>
        <p:spPr>
          <a:xfrm>
            <a:off x="9509760" y="2779776"/>
            <a:ext cx="1527048" cy="585216"/>
          </a:xfrm>
          <a:prstGeom prst="rect">
            <a:avLst/>
          </a:prstGeom>
          <a:solidFill>
            <a:srgbClr val="FCE5CD"/>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1800" b="0">
                <a:solidFill>
                  <a:srgbClr val="000000"/>
                </a:solidFill>
                <a:latin typeface="Arial"/>
              </a:rPr>
              <a:t>Path 1</a:t>
            </a:r>
          </a:p>
        </p:txBody>
      </p:sp>
      <p:sp>
        <p:nvSpPr>
          <p:cNvPr id="129" name="Rectangle 128"/>
          <p:cNvSpPr/>
          <p:nvPr/>
        </p:nvSpPr>
        <p:spPr>
          <a:xfrm>
            <a:off x="9509760" y="3950208"/>
            <a:ext cx="1527048" cy="585216"/>
          </a:xfrm>
          <a:prstGeom prst="rect">
            <a:avLst/>
          </a:prstGeom>
          <a:solidFill>
            <a:srgbClr val="FFF2CC"/>
          </a:solidFill>
          <a:ln w="22860">
            <a:solidFill>
              <a:srgbClr val="44546A"/>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a:lstStyle/>
          <a:p>
            <a:pPr algn="ctr">
              <a:spcAft>
                <a:spcPts val="100"/>
              </a:spcAft>
            </a:pPr>
            <a:r>
              <a:rPr sz="1800" b="0">
                <a:solidFill>
                  <a:srgbClr val="000000"/>
                </a:solidFill>
                <a:latin typeface="Arial"/>
              </a:rPr>
              <a:t>Path 2</a:t>
            </a:r>
          </a:p>
        </p:txBody>
      </p:sp>
      <p:cxnSp>
        <p:nvCxnSpPr>
          <p:cNvPr id="130" name="Connector 129"/>
          <p:cNvCxnSpPr/>
          <p:nvPr/>
        </p:nvCxnSpPr>
        <p:spPr>
          <a:xfrm>
            <a:off x="8202168" y="3072384"/>
            <a:ext cx="1307592" cy="0"/>
          </a:xfrm>
          <a:prstGeom prst="line">
            <a:avLst/>
          </a:prstGeom>
          <a:ln w="27940">
            <a:solidFill>
              <a:srgbClr val="45805A"/>
            </a:solidFill>
            <a:headEnd type="triangle" w="sm" len="sm"/>
            <a:tailEnd type="triangle" w="sm" len="sm"/>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8229600" y="2679192"/>
            <a:ext cx="1252728" cy="274320"/>
          </a:xfrm>
          <a:prstGeom prst="rect">
            <a:avLst/>
          </a:prstGeom>
          <a:noFill/>
        </p:spPr>
        <p:txBody>
          <a:bodyPr wrap="square" lIns="22860" rIns="22860" tIns="13716" bIns="13716">
            <a:spAutoFit/>
          </a:bodyPr>
          <a:lstStyle/>
          <a:p>
            <a:pPr algn="ctr">
              <a:spcAft>
                <a:spcPts val="300"/>
              </a:spcAft>
            </a:pPr>
            <a:r>
              <a:rPr sz="1400" b="0">
                <a:solidFill>
                  <a:srgbClr val="45805A"/>
                </a:solidFill>
                <a:latin typeface="Arial"/>
              </a:rPr>
              <a:t>pull together</a:t>
            </a:r>
          </a:p>
        </p:txBody>
      </p:sp>
      <p:cxnSp>
        <p:nvCxnSpPr>
          <p:cNvPr id="132" name="Connector 131"/>
          <p:cNvCxnSpPr/>
          <p:nvPr/>
        </p:nvCxnSpPr>
        <p:spPr>
          <a:xfrm>
            <a:off x="7443216" y="3364992"/>
            <a:ext cx="0" cy="585216"/>
          </a:xfrm>
          <a:prstGeom prst="line">
            <a:avLst/>
          </a:prstGeom>
          <a:ln w="22860">
            <a:solidFill>
              <a:srgbClr val="B45B58"/>
            </a:solidFill>
            <a:prstDash val="dash"/>
            <a:headEnd type="triangle" w="sm" len="sm"/>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8202168" y="3364992"/>
            <a:ext cx="1307592" cy="585216"/>
          </a:xfrm>
          <a:prstGeom prst="line">
            <a:avLst/>
          </a:prstGeom>
          <a:ln w="22860">
            <a:solidFill>
              <a:srgbClr val="B45B58"/>
            </a:solidFill>
            <a:prstDash val="dash"/>
            <a:headEnd type="triangle" w="sm" len="sm"/>
            <a:tailEnd type="triangle" w="sm" len="sm"/>
          </a:ln>
          <a:effectLst/>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7982712" y="3602736"/>
            <a:ext cx="1517904" cy="265176"/>
          </a:xfrm>
          <a:prstGeom prst="rect">
            <a:avLst/>
          </a:prstGeom>
          <a:noFill/>
        </p:spPr>
        <p:txBody>
          <a:bodyPr wrap="square" lIns="22860" rIns="22860" tIns="13716" bIns="13716">
            <a:spAutoFit/>
          </a:bodyPr>
          <a:lstStyle/>
          <a:p>
            <a:pPr algn="ctr">
              <a:spcAft>
                <a:spcPts val="300"/>
              </a:spcAft>
            </a:pPr>
            <a:r>
              <a:rPr sz="1400" b="0">
                <a:solidFill>
                  <a:srgbClr val="B45B58"/>
                </a:solidFill>
                <a:latin typeface="Arial"/>
              </a:rPr>
              <a:t>push apart</a:t>
            </a:r>
          </a:p>
        </p:txBody>
      </p:sp>
      <p:sp>
        <p:nvSpPr>
          <p:cNvPr id="135" name="TextBox 134"/>
          <p:cNvSpPr txBox="1"/>
          <p:nvPr/>
        </p:nvSpPr>
        <p:spPr>
          <a:xfrm>
            <a:off x="6446520" y="4700016"/>
            <a:ext cx="5166360" cy="676656"/>
          </a:xfrm>
          <a:prstGeom prst="rect">
            <a:avLst/>
          </a:prstGeom>
          <a:noFill/>
        </p:spPr>
        <p:txBody>
          <a:bodyPr wrap="square" lIns="22860" rIns="22860" tIns="13716" bIns="13716">
            <a:spAutoFit/>
          </a:bodyPr>
          <a:lstStyle/>
          <a:p>
            <a:pPr algn="l">
              <a:spcAft>
                <a:spcPts val="300"/>
              </a:spcAft>
            </a:pPr>
            <a:r>
              <a:rPr sz="1800" b="0">
                <a:solidFill>
                  <a:srgbClr val="000000"/>
                </a:solidFill>
                <a:latin typeface="Arial"/>
              </a:rPr>
              <a:t>+ Same physical path, aligned by CTF PIT</a:t>
            </a:r>
          </a:p>
          <a:p>
            <a:pPr algn="l">
              <a:spcAft>
                <a:spcPts val="300"/>
              </a:spcAft>
            </a:pPr>
            <a:r>
              <a:rPr sz="1800" b="0">
                <a:solidFill>
                  <a:srgbClr val="000000"/>
                </a:solidFill>
                <a:latin typeface="Arial"/>
              </a:rPr>
              <a:t>− The other path in the same item only</a:t>
            </a:r>
          </a:p>
        </p:txBody>
      </p:sp>
      <p:sp>
        <p:nvSpPr>
          <p:cNvPr id="136" name="TextBox 135"/>
          <p:cNvSpPr txBox="1"/>
          <p:nvPr/>
        </p:nvSpPr>
        <p:spPr>
          <a:xfrm>
            <a:off x="685800" y="5504688"/>
            <a:ext cx="10972800" cy="301752"/>
          </a:xfrm>
          <a:prstGeom prst="rect">
            <a:avLst/>
          </a:prstGeom>
          <a:noFill/>
        </p:spPr>
        <p:txBody>
          <a:bodyPr wrap="square" lIns="22860" rIns="22860" tIns="13716" bIns="13716">
            <a:spAutoFit/>
          </a:bodyPr>
          <a:lstStyle/>
          <a:p>
            <a:pPr algn="l">
              <a:spcAft>
                <a:spcPts val="300"/>
              </a:spcAft>
            </a:pPr>
            <a:r>
              <a:rPr sz="2000" b="0">
                <a:solidFill>
                  <a:srgbClr val="000000"/>
                </a:solidFill>
                <a:latin typeface="Arial"/>
              </a:rPr>
              <a:t>Symmetric InfoNCE  |  Cosine similarity  |  Temperature τ = 0.1</a:t>
            </a:r>
          </a:p>
        </p:txBody>
      </p:sp>
      <p:sp>
        <p:nvSpPr>
          <p:cNvPr id="137" name="TextBox 136"/>
          <p:cNvSpPr txBox="1"/>
          <p:nvPr/>
        </p:nvSpPr>
        <p:spPr>
          <a:xfrm>
            <a:off x="685800" y="5925312"/>
            <a:ext cx="10972800" cy="429768"/>
          </a:xfrm>
          <a:prstGeom prst="rect">
            <a:avLst/>
          </a:prstGeom>
          <a:noFill/>
        </p:spPr>
        <p:txBody>
          <a:bodyPr wrap="square" lIns="22860" rIns="22860" tIns="13716" bIns="13716">
            <a:spAutoFit/>
          </a:bodyPr>
          <a:lstStyle/>
          <a:p>
            <a:pPr algn="l">
              <a:spcAft>
                <a:spcPts val="300"/>
              </a:spcAft>
            </a:pPr>
            <a:r>
              <a:rPr sz="2500">
                <a:solidFill>
                  <a:srgbClr val="000000"/>
                </a:solidFill>
                <a:latin typeface="Arial"/>
              </a:rPr>
              <a:t>L</a:t>
            </a:r>
            <a:r>
              <a:rPr sz="1900" baseline="-25000">
                <a:solidFill>
                  <a:srgbClr val="000000"/>
                </a:solidFill>
                <a:latin typeface="Arial"/>
              </a:rPr>
              <a:t>total</a:t>
            </a:r>
            <a:r>
              <a:rPr sz="2500">
                <a:solidFill>
                  <a:srgbClr val="000000"/>
                </a:solidFill>
                <a:latin typeface="Arial"/>
              </a:rPr>
              <a:t> = ½(L</a:t>
            </a:r>
            <a:r>
              <a:rPr sz="1900" baseline="-25000">
                <a:solidFill>
                  <a:srgbClr val="000000"/>
                </a:solidFill>
                <a:latin typeface="Arial"/>
              </a:rPr>
              <a:t>sweep</a:t>
            </a:r>
            <a:r>
              <a:rPr sz="2500">
                <a:solidFill>
                  <a:srgbClr val="000000"/>
                </a:solidFill>
                <a:latin typeface="Arial"/>
              </a:rPr>
              <a:t>ᴬ + L</a:t>
            </a:r>
            <a:r>
              <a:rPr sz="1900" baseline="-25000">
                <a:solidFill>
                  <a:srgbClr val="000000"/>
                </a:solidFill>
                <a:latin typeface="Arial"/>
              </a:rPr>
              <a:t>sweep</a:t>
            </a:r>
            <a:r>
              <a:rPr sz="2500">
                <a:solidFill>
                  <a:srgbClr val="000000"/>
                </a:solidFill>
                <a:latin typeface="Arial"/>
              </a:rPr>
              <a:t>ᴮ) + 0.01 L</a:t>
            </a:r>
            <a:r>
              <a:rPr sz="1900" baseline="-25000">
                <a:solidFill>
                  <a:srgbClr val="000000"/>
                </a:solidFill>
                <a:latin typeface="Arial"/>
              </a:rPr>
              <a:t>room</a:t>
            </a:r>
            <a:r>
              <a:rPr sz="2500">
                <a:solidFill>
                  <a:srgbClr val="000000"/>
                </a:solidFill>
                <a:latin typeface="Arial"/>
              </a:rPr>
              <a:t> + 0.01 L</a:t>
            </a:r>
            <a:r>
              <a:rPr sz="1900" baseline="-25000">
                <a:solidFill>
                  <a:srgbClr val="000000"/>
                </a:solidFill>
                <a:latin typeface="Arial"/>
              </a:rPr>
              <a:t>path</a:t>
            </a:r>
          </a:p>
        </p:txBody>
      </p:sp>
      <p:sp>
        <p:nvSpPr>
          <p:cNvPr id="138" name="TextBox 137"/>
          <p:cNvSpPr txBox="1"/>
          <p:nvPr/>
        </p:nvSpPr>
        <p:spPr>
          <a:xfrm>
            <a:off x="694944" y="6400800"/>
            <a:ext cx="9784080" cy="237744"/>
          </a:xfrm>
          <a:prstGeom prst="rect">
            <a:avLst/>
          </a:prstGeom>
          <a:noFill/>
        </p:spPr>
        <p:txBody>
          <a:bodyPr wrap="square" lIns="22860" rIns="22860" tIns="13716" bIns="13716">
            <a:spAutoFit/>
          </a:bodyPr>
          <a:lstStyle/>
          <a:p>
            <a:pPr algn="l">
              <a:spcAft>
                <a:spcPts val="300"/>
              </a:spcAft>
            </a:pPr>
            <a:r>
              <a:rPr sz="1100" b="0">
                <a:solidFill>
                  <a:srgbClr val="666666"/>
                </a:solidFill>
                <a:latin typeface="Arial"/>
              </a:rPr>
              <a:t>Training-only projections: 64 → 32 per frequency. Lpath uses path codes before slot embeddings.</a:t>
            </a:r>
          </a:p>
        </p:txBody>
      </p:sp>
    </p:spTree>
  </p:cSld>
  <p:clrMapOvr>
    <a:masterClrMapping/>
  </p:clrMapOvr>
</p:sld>
</file>

<file path=ppt/theme/theme1.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2023-05-30T01:56:36Z</dcterms:created>
  <dc:creator>Nitsu</dc:creator>
  <dc:title>Room / Path Contrastive Learning</dc:title>
  <dc:subject>CTF estimator: paired views, room loss and path loss</dc:subject>
</cp:coreProperties>
</file>